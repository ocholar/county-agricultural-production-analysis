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1498792"/>
            <a:ext cx="4629150" cy="1005818"/>
          </a:xfrm>
          <a:prstGeom prst="rect">
            <a:avLst/>
          </a:prstGeom>
          <a:noFill/>
          <a:ln/>
        </p:spPr>
        <p:txBody>
          <a:bodyPr wrap="square" lIns="0" tIns="0" rIns="0" bIns="0" rtlCol="0" anchor="t">
            <a:spAutoFit/>
          </a:bodyPr>
          <a:lstStyle/>
          <a:p>
            <a:pPr algn="l" indent="0" marL="0">
              <a:lnSpc>
                <a:spcPts val="4000"/>
              </a:lnSpc>
              <a:buNone/>
            </a:pPr>
            <a:r>
              <a:rPr lang="en-US" sz="3294" b="1" spc="-1" kern="0" dirty="0">
                <a:solidFill>
                  <a:srgbClr val="2D5016"/>
                </a:solidFill>
              </a:rPr>
              <a:t>Agricultural Production Analysis</a:t>
            </a:r>
            <a:endParaRPr lang="en-US" sz="3294" dirty="0"/>
          </a:p>
        </p:txBody>
      </p:sp>
      <p:sp>
        <p:nvSpPr>
          <p:cNvPr id="4" name="Text 1"/>
          <p:cNvSpPr/>
          <p:nvPr/>
        </p:nvSpPr>
        <p:spPr>
          <a:xfrm>
            <a:off x="428625" y="2718922"/>
            <a:ext cx="4629150" cy="640035"/>
          </a:xfrm>
          <a:prstGeom prst="rect">
            <a:avLst/>
          </a:prstGeom>
          <a:noFill/>
          <a:ln/>
        </p:spPr>
        <p:txBody>
          <a:bodyPr wrap="square" lIns="0" tIns="0" rIns="0" bIns="0" rtlCol="0" anchor="t">
            <a:spAutoFit/>
          </a:bodyPr>
          <a:lstStyle/>
          <a:p>
            <a:pPr algn="l" indent="0" marL="0">
              <a:lnSpc>
                <a:spcPts val="2500"/>
              </a:lnSpc>
              <a:buNone/>
            </a:pPr>
            <a:r>
              <a:rPr lang="en-US" sz="1704" dirty="0">
                <a:solidFill>
                  <a:srgbClr val="4A4A4A"/>
                </a:solidFill>
              </a:rPr>
              <a:t>Kenya County-Level Planning for Sustainability and Food</a:t>
            </a:r>
            <a:endParaRPr lang="en-US" sz="1704" dirty="0"/>
          </a:p>
        </p:txBody>
      </p:sp>
      <p:sp>
        <p:nvSpPr>
          <p:cNvPr id="5" name="Shape 2"/>
          <p:cNvSpPr/>
          <p:nvPr/>
        </p:nvSpPr>
        <p:spPr>
          <a:xfrm>
            <a:off x="5486400" y="0"/>
            <a:ext cx="3657600" cy="5143500"/>
          </a:xfrm>
          <a:prstGeom prst="rect">
            <a:avLst/>
          </a:prstGeom>
          <a:solidFill>
            <a:srgbClr val="2D5016"/>
          </a:solidFill>
          <a:ln/>
        </p:spPr>
      </p:sp>
      <p:pic>
        <p:nvPicPr>
          <p:cNvPr id="6" name="Image 1" descr="preencoded.png">    </p:cNvPr>
          <p:cNvPicPr>
            <a:picLocks noChangeAspect="1"/>
          </p:cNvPicPr>
          <p:nvPr/>
        </p:nvPicPr>
        <p:blipFill>
          <a:blip r:embed="rId2">
            <a:alphaModFix amt="90000"/>
          </a:blip>
          <a:stretch>
            <a:fillRect/>
          </a:stretch>
        </p:blipFill>
        <p:spPr>
          <a:xfrm>
            <a:off x="6886575" y="2143125"/>
            <a:ext cx="857250" cy="857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86413"/>
          </a:xfrm>
          <a:prstGeom prst="rect">
            <a:avLst/>
          </a:prstGeom>
        </p:spPr>
      </p:pic>
      <p:sp>
        <p:nvSpPr>
          <p:cNvPr id="3" name="Shape 0"/>
          <p:cNvSpPr/>
          <p:nvPr/>
        </p:nvSpPr>
        <p:spPr>
          <a:xfrm>
            <a:off x="3857625" y="1057275"/>
            <a:ext cx="1428750" cy="28575"/>
          </a:xfrm>
          <a:prstGeom prst="rect">
            <a:avLst/>
          </a:prstGeom>
          <a:solidFill>
            <a:srgbClr val="7A9B57"/>
          </a:solidFill>
          <a:ln/>
        </p:spPr>
      </p:sp>
      <p:sp>
        <p:nvSpPr>
          <p:cNvPr id="4" name="Text 1"/>
          <p:cNvSpPr/>
          <p:nvPr/>
        </p:nvSpPr>
        <p:spPr>
          <a:xfrm>
            <a:off x="571500" y="428625"/>
            <a:ext cx="8001000" cy="657225"/>
          </a:xfrm>
          <a:prstGeom prst="rect">
            <a:avLst/>
          </a:prstGeom>
          <a:noFill/>
          <a:ln/>
        </p:spPr>
        <p:txBody>
          <a:bodyPr wrap="none" lIns="0" tIns="0" rIns="0" bIns="170053" rtlCol="0" anchor="t">
            <a:spAutoFit/>
          </a:bodyPr>
          <a:lstStyle/>
          <a:p>
            <a:pPr algn="ctr" indent="0" marL="0">
              <a:lnSpc>
                <a:spcPts val="4100"/>
              </a:lnSpc>
              <a:buNone/>
            </a:pPr>
            <a:r>
              <a:rPr lang="en-US" sz="2436" b="1" dirty="0">
                <a:solidFill>
                  <a:srgbClr val="2D5016"/>
                </a:solidFill>
              </a:rPr>
              <a:t>Data Quality &amp; Cleaning Process</a:t>
            </a:r>
            <a:endParaRPr lang="en-US" sz="2436" dirty="0"/>
          </a:p>
        </p:txBody>
      </p:sp>
      <p:pic>
        <p:nvPicPr>
          <p:cNvPr id="5" name="Image 1" descr="preencoded.png">    </p:cNvPr>
          <p:cNvPicPr>
            <a:picLocks noChangeAspect="1"/>
          </p:cNvPicPr>
          <p:nvPr/>
        </p:nvPicPr>
        <p:blipFill>
          <a:blip r:embed="rId2"/>
          <a:stretch>
            <a:fillRect/>
          </a:stretch>
        </p:blipFill>
        <p:spPr>
          <a:xfrm>
            <a:off x="571500" y="1471613"/>
            <a:ext cx="200025" cy="200025"/>
          </a:xfrm>
          <a:prstGeom prst="rect">
            <a:avLst/>
          </a:prstGeom>
        </p:spPr>
      </p:pic>
      <p:sp>
        <p:nvSpPr>
          <p:cNvPr id="6" name="Text 2"/>
          <p:cNvSpPr/>
          <p:nvPr/>
        </p:nvSpPr>
        <p:spPr>
          <a:xfrm>
            <a:off x="857250" y="1443038"/>
            <a:ext cx="2552049"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C1502E"/>
                </a:solidFill>
              </a:rPr>
              <a:t>Data Quality Issues Identified</a:t>
            </a:r>
            <a:endParaRPr lang="en-US" sz="1193" dirty="0"/>
          </a:p>
        </p:txBody>
      </p:sp>
      <p:sp>
        <p:nvSpPr>
          <p:cNvPr id="7" name="Shape 3"/>
          <p:cNvSpPr/>
          <p:nvPr/>
        </p:nvSpPr>
        <p:spPr>
          <a:xfrm>
            <a:off x="571500" y="1878806"/>
            <a:ext cx="214313" cy="214313"/>
          </a:xfrm>
          <a:prstGeom prst="rect">
            <a:avLst/>
          </a:prstGeom>
          <a:solidFill>
            <a:srgbClr val="F4F1E8"/>
          </a:solidFill>
          <a:ln w="18288">
            <a:solidFill>
              <a:srgbClr val="C1502E"/>
            </a:solidFill>
            <a:prstDash val="solid"/>
          </a:ln>
        </p:spPr>
      </p:sp>
      <p:sp>
        <p:nvSpPr>
          <p:cNvPr id="8" name="Text 4"/>
          <p:cNvSpPr/>
          <p:nvPr/>
        </p:nvSpPr>
        <p:spPr>
          <a:xfrm>
            <a:off x="571500" y="1878806"/>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C1502E"/>
                </a:solidFill>
              </a:rPr>
              <a:t>counter(issue-counter)</a:t>
            </a:r>
            <a:endParaRPr lang="en-US" sz="885" dirty="0"/>
          </a:p>
        </p:txBody>
      </p:sp>
      <p:sp>
        <p:nvSpPr>
          <p:cNvPr id="9" name="Text 5"/>
          <p:cNvSpPr/>
          <p:nvPr/>
        </p:nvSpPr>
        <p:spPr>
          <a:xfrm>
            <a:off x="857250" y="1891308"/>
            <a:ext cx="3485006"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Inconsistent column naming conventions with typos (e.g., 'TOTAL HOUSHOLDS', mixed case, spacing issues)</a:t>
            </a:r>
            <a:endParaRPr lang="en-US" sz="834" dirty="0"/>
          </a:p>
        </p:txBody>
      </p:sp>
      <p:sp>
        <p:nvSpPr>
          <p:cNvPr id="10" name="Shape 6"/>
          <p:cNvSpPr/>
          <p:nvPr/>
        </p:nvSpPr>
        <p:spPr>
          <a:xfrm>
            <a:off x="571500" y="2387408"/>
            <a:ext cx="214313" cy="214313"/>
          </a:xfrm>
          <a:prstGeom prst="rect">
            <a:avLst/>
          </a:prstGeom>
          <a:solidFill>
            <a:srgbClr val="F4F1E8"/>
          </a:solidFill>
          <a:ln w="18288">
            <a:solidFill>
              <a:srgbClr val="C1502E"/>
            </a:solidFill>
            <a:prstDash val="solid"/>
          </a:ln>
        </p:spPr>
      </p:sp>
      <p:sp>
        <p:nvSpPr>
          <p:cNvPr id="11" name="Text 7"/>
          <p:cNvSpPr/>
          <p:nvPr/>
        </p:nvSpPr>
        <p:spPr>
          <a:xfrm>
            <a:off x="571500" y="2387408"/>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C1502E"/>
                </a:solidFill>
              </a:rPr>
              <a:t>counter(issue-counter)</a:t>
            </a:r>
            <a:endParaRPr lang="en-US" sz="885" dirty="0"/>
          </a:p>
        </p:txBody>
      </p:sp>
      <p:sp>
        <p:nvSpPr>
          <p:cNvPr id="12" name="Text 8"/>
          <p:cNvSpPr/>
          <p:nvPr/>
        </p:nvSpPr>
        <p:spPr>
          <a:xfrm>
            <a:off x="857250" y="2399909"/>
            <a:ext cx="3203944"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Missing values in critical demographic columns (Population, Area, Density)</a:t>
            </a:r>
            <a:endParaRPr lang="en-US" sz="834" dirty="0"/>
          </a:p>
        </p:txBody>
      </p:sp>
      <p:sp>
        <p:nvSpPr>
          <p:cNvPr id="13" name="Shape 9"/>
          <p:cNvSpPr/>
          <p:nvPr/>
        </p:nvSpPr>
        <p:spPr>
          <a:xfrm>
            <a:off x="571500" y="2896009"/>
            <a:ext cx="214313" cy="214313"/>
          </a:xfrm>
          <a:prstGeom prst="rect">
            <a:avLst/>
          </a:prstGeom>
          <a:solidFill>
            <a:srgbClr val="F4F1E8"/>
          </a:solidFill>
          <a:ln w="18288">
            <a:solidFill>
              <a:srgbClr val="C1502E"/>
            </a:solidFill>
            <a:prstDash val="solid"/>
          </a:ln>
        </p:spPr>
      </p:sp>
      <p:sp>
        <p:nvSpPr>
          <p:cNvPr id="14" name="Text 10"/>
          <p:cNvSpPr/>
          <p:nvPr/>
        </p:nvSpPr>
        <p:spPr>
          <a:xfrm>
            <a:off x="571500" y="2896009"/>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C1502E"/>
                </a:solidFill>
              </a:rPr>
              <a:t>counter(issue-counter)</a:t>
            </a:r>
            <a:endParaRPr lang="en-US" sz="885" dirty="0"/>
          </a:p>
        </p:txBody>
      </p:sp>
      <p:sp>
        <p:nvSpPr>
          <p:cNvPr id="15" name="Text 11"/>
          <p:cNvSpPr/>
          <p:nvPr/>
        </p:nvSpPr>
        <p:spPr>
          <a:xfrm>
            <a:off x="857250" y="2908511"/>
            <a:ext cx="3202577"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Non-county administrative units mixed with county data (12 forest/park entries)</a:t>
            </a:r>
            <a:endParaRPr lang="en-US" sz="834" dirty="0"/>
          </a:p>
        </p:txBody>
      </p:sp>
      <p:sp>
        <p:nvSpPr>
          <p:cNvPr id="16" name="Shape 12"/>
          <p:cNvSpPr/>
          <p:nvPr/>
        </p:nvSpPr>
        <p:spPr>
          <a:xfrm>
            <a:off x="571500" y="3404611"/>
            <a:ext cx="214313" cy="214313"/>
          </a:xfrm>
          <a:prstGeom prst="rect">
            <a:avLst/>
          </a:prstGeom>
          <a:solidFill>
            <a:srgbClr val="F4F1E8"/>
          </a:solidFill>
          <a:ln w="18288">
            <a:solidFill>
              <a:srgbClr val="C1502E"/>
            </a:solidFill>
            <a:prstDash val="solid"/>
          </a:ln>
        </p:spPr>
      </p:sp>
      <p:sp>
        <p:nvSpPr>
          <p:cNvPr id="17" name="Text 13"/>
          <p:cNvSpPr/>
          <p:nvPr/>
        </p:nvSpPr>
        <p:spPr>
          <a:xfrm>
            <a:off x="571500" y="3404611"/>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C1502E"/>
                </a:solidFill>
              </a:rPr>
              <a:t>counter(issue-counter)</a:t>
            </a:r>
            <a:endParaRPr lang="en-US" sz="885" dirty="0"/>
          </a:p>
        </p:txBody>
      </p:sp>
      <p:sp>
        <p:nvSpPr>
          <p:cNvPr id="18" name="Text 14"/>
          <p:cNvSpPr/>
          <p:nvPr/>
        </p:nvSpPr>
        <p:spPr>
          <a:xfrm>
            <a:off x="857250" y="3417112"/>
            <a:ext cx="3458607"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Data type inconsistencies with numeric columns containing non-numeric values</a:t>
            </a:r>
            <a:endParaRPr lang="en-US" sz="834" dirty="0"/>
          </a:p>
        </p:txBody>
      </p:sp>
      <p:sp>
        <p:nvSpPr>
          <p:cNvPr id="19" name="Shape 15"/>
          <p:cNvSpPr/>
          <p:nvPr/>
        </p:nvSpPr>
        <p:spPr>
          <a:xfrm>
            <a:off x="571500" y="3913212"/>
            <a:ext cx="214313" cy="214313"/>
          </a:xfrm>
          <a:prstGeom prst="rect">
            <a:avLst/>
          </a:prstGeom>
          <a:solidFill>
            <a:srgbClr val="F4F1E8"/>
          </a:solidFill>
          <a:ln w="18288">
            <a:solidFill>
              <a:srgbClr val="C1502E"/>
            </a:solidFill>
            <a:prstDash val="solid"/>
          </a:ln>
        </p:spPr>
      </p:sp>
      <p:sp>
        <p:nvSpPr>
          <p:cNvPr id="20" name="Text 16"/>
          <p:cNvSpPr/>
          <p:nvPr/>
        </p:nvSpPr>
        <p:spPr>
          <a:xfrm>
            <a:off x="571500" y="3913212"/>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C1502E"/>
                </a:solidFill>
              </a:rPr>
              <a:t>counter(issue-counter)</a:t>
            </a:r>
            <a:endParaRPr lang="en-US" sz="885" dirty="0"/>
          </a:p>
        </p:txBody>
      </p:sp>
      <p:sp>
        <p:nvSpPr>
          <p:cNvPr id="21" name="Text 17"/>
          <p:cNvSpPr/>
          <p:nvPr/>
        </p:nvSpPr>
        <p:spPr>
          <a:xfrm>
            <a:off x="857250" y="3925714"/>
            <a:ext cx="3488327" cy="155377"/>
          </a:xfrm>
          <a:prstGeom prst="rect">
            <a:avLst/>
          </a:prstGeom>
          <a:noFill/>
          <a:ln/>
        </p:spPr>
        <p:txBody>
          <a:bodyPr wrap="none" lIns="0" tIns="0" rIns="0" bIns="0" rtlCol="0" anchor="t">
            <a:spAutoFit/>
          </a:bodyPr>
          <a:lstStyle/>
          <a:p>
            <a:pPr algn="l" indent="0" marL="0">
              <a:lnSpc>
                <a:spcPts val="1400"/>
              </a:lnSpc>
              <a:buNone/>
            </a:pPr>
            <a:r>
              <a:rPr lang="en-US" sz="834" dirty="0">
                <a:solidFill>
                  <a:srgbClr val="4A4A4A"/>
                </a:solidFill>
              </a:rPr>
              <a:t>Potential outliers and data validation issues requiring verification</a:t>
            </a:r>
            <a:endParaRPr lang="en-US" sz="834" dirty="0"/>
          </a:p>
        </p:txBody>
      </p:sp>
      <p:pic>
        <p:nvPicPr>
          <p:cNvPr id="22" name="Image 2" descr="preencoded.png">    </p:cNvPr>
          <p:cNvPicPr>
            <a:picLocks noChangeAspect="1"/>
          </p:cNvPicPr>
          <p:nvPr/>
        </p:nvPicPr>
        <p:blipFill>
          <a:blip r:embed="rId3"/>
          <a:stretch>
            <a:fillRect/>
          </a:stretch>
        </p:blipFill>
        <p:spPr>
          <a:xfrm>
            <a:off x="4786313" y="1471613"/>
            <a:ext cx="200025" cy="200025"/>
          </a:xfrm>
          <a:prstGeom prst="rect">
            <a:avLst/>
          </a:prstGeom>
        </p:spPr>
      </p:pic>
      <p:sp>
        <p:nvSpPr>
          <p:cNvPr id="23" name="Text 18"/>
          <p:cNvSpPr/>
          <p:nvPr/>
        </p:nvSpPr>
        <p:spPr>
          <a:xfrm>
            <a:off x="5072063" y="1443038"/>
            <a:ext cx="1814987"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7A9B57"/>
                </a:solidFill>
              </a:rPr>
              <a:t>Cleaning Steps Taken</a:t>
            </a:r>
            <a:endParaRPr lang="en-US" sz="1193" dirty="0"/>
          </a:p>
        </p:txBody>
      </p:sp>
      <p:sp>
        <p:nvSpPr>
          <p:cNvPr id="24" name="Shape 19"/>
          <p:cNvSpPr/>
          <p:nvPr/>
        </p:nvSpPr>
        <p:spPr>
          <a:xfrm>
            <a:off x="4786313" y="1878806"/>
            <a:ext cx="214313" cy="214313"/>
          </a:xfrm>
          <a:prstGeom prst="rect">
            <a:avLst/>
          </a:prstGeom>
          <a:solidFill>
            <a:srgbClr val="F4F1E8"/>
          </a:solidFill>
          <a:ln w="18288">
            <a:solidFill>
              <a:srgbClr val="7A9B57"/>
            </a:solidFill>
            <a:prstDash val="solid"/>
          </a:ln>
        </p:spPr>
      </p:sp>
      <p:sp>
        <p:nvSpPr>
          <p:cNvPr id="25" name="Text 20"/>
          <p:cNvSpPr/>
          <p:nvPr/>
        </p:nvSpPr>
        <p:spPr>
          <a:xfrm>
            <a:off x="4786313" y="1878806"/>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7A9B57"/>
                </a:solidFill>
              </a:rPr>
              <a:t>counter(solution-counter)</a:t>
            </a:r>
            <a:endParaRPr lang="en-US" sz="885" dirty="0"/>
          </a:p>
        </p:txBody>
      </p:sp>
      <p:sp>
        <p:nvSpPr>
          <p:cNvPr id="26" name="Text 21"/>
          <p:cNvSpPr/>
          <p:nvPr/>
        </p:nvSpPr>
        <p:spPr>
          <a:xfrm>
            <a:off x="5072063" y="1891308"/>
            <a:ext cx="3464216"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Standardized all column names to consistent snake_case format, fixed typos</a:t>
            </a:r>
            <a:endParaRPr lang="en-US" sz="834" dirty="0"/>
          </a:p>
        </p:txBody>
      </p:sp>
      <p:sp>
        <p:nvSpPr>
          <p:cNvPr id="27" name="Shape 22"/>
          <p:cNvSpPr/>
          <p:nvPr/>
        </p:nvSpPr>
        <p:spPr>
          <a:xfrm>
            <a:off x="4786313" y="2387408"/>
            <a:ext cx="214313" cy="214313"/>
          </a:xfrm>
          <a:prstGeom prst="rect">
            <a:avLst/>
          </a:prstGeom>
          <a:solidFill>
            <a:srgbClr val="F4F1E8"/>
          </a:solidFill>
          <a:ln w="18288">
            <a:solidFill>
              <a:srgbClr val="7A9B57"/>
            </a:solidFill>
            <a:prstDash val="solid"/>
          </a:ln>
        </p:spPr>
      </p:sp>
      <p:sp>
        <p:nvSpPr>
          <p:cNvPr id="28" name="Text 23"/>
          <p:cNvSpPr/>
          <p:nvPr/>
        </p:nvSpPr>
        <p:spPr>
          <a:xfrm>
            <a:off x="4786313" y="2387408"/>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7A9B57"/>
                </a:solidFill>
              </a:rPr>
              <a:t>counter(solution-counter)</a:t>
            </a:r>
            <a:endParaRPr lang="en-US" sz="885" dirty="0"/>
          </a:p>
        </p:txBody>
      </p:sp>
      <p:sp>
        <p:nvSpPr>
          <p:cNvPr id="29" name="Text 24"/>
          <p:cNvSpPr/>
          <p:nvPr/>
        </p:nvSpPr>
        <p:spPr>
          <a:xfrm>
            <a:off x="5072063" y="2399909"/>
            <a:ext cx="3141325"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Removed 12 non-county entries (forests/parks) to focus on county-level analysis</a:t>
            </a:r>
            <a:endParaRPr lang="en-US" sz="834" dirty="0"/>
          </a:p>
        </p:txBody>
      </p:sp>
      <p:sp>
        <p:nvSpPr>
          <p:cNvPr id="30" name="Shape 25"/>
          <p:cNvSpPr/>
          <p:nvPr/>
        </p:nvSpPr>
        <p:spPr>
          <a:xfrm>
            <a:off x="4786313" y="2896009"/>
            <a:ext cx="214313" cy="214313"/>
          </a:xfrm>
          <a:prstGeom prst="rect">
            <a:avLst/>
          </a:prstGeom>
          <a:solidFill>
            <a:srgbClr val="F4F1E8"/>
          </a:solidFill>
          <a:ln w="18288">
            <a:solidFill>
              <a:srgbClr val="7A9B57"/>
            </a:solidFill>
            <a:prstDash val="solid"/>
          </a:ln>
        </p:spPr>
      </p:sp>
      <p:sp>
        <p:nvSpPr>
          <p:cNvPr id="31" name="Text 26"/>
          <p:cNvSpPr/>
          <p:nvPr/>
        </p:nvSpPr>
        <p:spPr>
          <a:xfrm>
            <a:off x="4786313" y="2896009"/>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7A9B57"/>
                </a:solidFill>
              </a:rPr>
              <a:t>counter(solution-counter)</a:t>
            </a:r>
            <a:endParaRPr lang="en-US" sz="885" dirty="0"/>
          </a:p>
        </p:txBody>
      </p:sp>
      <p:sp>
        <p:nvSpPr>
          <p:cNvPr id="32" name="Text 27"/>
          <p:cNvSpPr/>
          <p:nvPr/>
        </p:nvSpPr>
        <p:spPr>
          <a:xfrm>
            <a:off x="5072063" y="2908511"/>
            <a:ext cx="3313221"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Removed counties with missing critical data; filled agricultural data gaps with 0</a:t>
            </a:r>
            <a:endParaRPr lang="en-US" sz="834" dirty="0"/>
          </a:p>
        </p:txBody>
      </p:sp>
      <p:sp>
        <p:nvSpPr>
          <p:cNvPr id="33" name="Shape 28"/>
          <p:cNvSpPr/>
          <p:nvPr/>
        </p:nvSpPr>
        <p:spPr>
          <a:xfrm>
            <a:off x="4786313" y="3404611"/>
            <a:ext cx="214313" cy="214313"/>
          </a:xfrm>
          <a:prstGeom prst="rect">
            <a:avLst/>
          </a:prstGeom>
          <a:solidFill>
            <a:srgbClr val="F4F1E8"/>
          </a:solidFill>
          <a:ln w="18288">
            <a:solidFill>
              <a:srgbClr val="7A9B57"/>
            </a:solidFill>
            <a:prstDash val="solid"/>
          </a:ln>
        </p:spPr>
      </p:sp>
      <p:sp>
        <p:nvSpPr>
          <p:cNvPr id="34" name="Text 29"/>
          <p:cNvSpPr/>
          <p:nvPr/>
        </p:nvSpPr>
        <p:spPr>
          <a:xfrm>
            <a:off x="4786313" y="3404611"/>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7A9B57"/>
                </a:solidFill>
              </a:rPr>
              <a:t>counter(solution-counter)</a:t>
            </a:r>
            <a:endParaRPr lang="en-US" sz="885" dirty="0"/>
          </a:p>
        </p:txBody>
      </p:sp>
      <p:sp>
        <p:nvSpPr>
          <p:cNvPr id="35" name="Text 30"/>
          <p:cNvSpPr/>
          <p:nvPr/>
        </p:nvSpPr>
        <p:spPr>
          <a:xfrm>
            <a:off x="5072063" y="3417112"/>
            <a:ext cx="3259950"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Converted all relevant columns to proper numeric data types with coercion</a:t>
            </a:r>
            <a:endParaRPr lang="en-US" sz="834" dirty="0"/>
          </a:p>
        </p:txBody>
      </p:sp>
      <p:sp>
        <p:nvSpPr>
          <p:cNvPr id="36" name="Shape 31"/>
          <p:cNvSpPr/>
          <p:nvPr/>
        </p:nvSpPr>
        <p:spPr>
          <a:xfrm>
            <a:off x="4786313" y="3913212"/>
            <a:ext cx="214313" cy="214313"/>
          </a:xfrm>
          <a:prstGeom prst="rect">
            <a:avLst/>
          </a:prstGeom>
          <a:solidFill>
            <a:srgbClr val="F4F1E8"/>
          </a:solidFill>
          <a:ln w="18288">
            <a:solidFill>
              <a:srgbClr val="7A9B57"/>
            </a:solidFill>
            <a:prstDash val="solid"/>
          </a:ln>
        </p:spPr>
      </p:sp>
      <p:sp>
        <p:nvSpPr>
          <p:cNvPr id="37" name="Text 32"/>
          <p:cNvSpPr/>
          <p:nvPr/>
        </p:nvSpPr>
        <p:spPr>
          <a:xfrm>
            <a:off x="4786313" y="3913212"/>
            <a:ext cx="214313" cy="214313"/>
          </a:xfrm>
          <a:prstGeom prst="rect">
            <a:avLst/>
          </a:prstGeom>
          <a:noFill/>
          <a:ln/>
        </p:spPr>
        <p:txBody>
          <a:bodyPr wrap="none" lIns="0" tIns="0" rIns="0" bIns="0" rtlCol="0" anchor="t">
            <a:spAutoFit/>
          </a:bodyPr>
          <a:lstStyle/>
          <a:p>
            <a:pPr algn="l" indent="0" marL="0">
              <a:lnSpc>
                <a:spcPts val="1600"/>
              </a:lnSpc>
              <a:buNone/>
            </a:pPr>
            <a:r>
              <a:rPr lang="en-US" sz="885" b="1" dirty="0">
                <a:solidFill>
                  <a:srgbClr val="7A9B57"/>
                </a:solidFill>
              </a:rPr>
              <a:t>counter(solution-counter)</a:t>
            </a:r>
            <a:endParaRPr lang="en-US" sz="885" dirty="0"/>
          </a:p>
        </p:txBody>
      </p:sp>
      <p:sp>
        <p:nvSpPr>
          <p:cNvPr id="38" name="Text 33"/>
          <p:cNvSpPr/>
          <p:nvPr/>
        </p:nvSpPr>
        <p:spPr>
          <a:xfrm>
            <a:off x="5072063" y="3925714"/>
            <a:ext cx="3193898" cy="338240"/>
          </a:xfrm>
          <a:prstGeom prst="rect">
            <a:avLst/>
          </a:prstGeom>
          <a:noFill/>
          <a:ln/>
        </p:spPr>
        <p:txBody>
          <a:bodyPr wrap="square" lIns="0" tIns="0" rIns="0" bIns="0" rtlCol="0" anchor="t">
            <a:spAutoFit/>
          </a:bodyPr>
          <a:lstStyle/>
          <a:p>
            <a:pPr algn="l" indent="0" marL="0">
              <a:lnSpc>
                <a:spcPts val="1400"/>
              </a:lnSpc>
              <a:buNone/>
            </a:pPr>
            <a:r>
              <a:rPr lang="en-US" sz="834" dirty="0">
                <a:solidFill>
                  <a:srgbClr val="4A4A4A"/>
                </a:solidFill>
              </a:rPr>
              <a:t>Validated data integrity, checked for negatives, recalculated population density</a:t>
            </a:r>
            <a:endParaRPr lang="en-US" sz="834"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10650"/>
          </a:xfrm>
          <a:prstGeom prst="rect">
            <a:avLst/>
          </a:prstGeom>
        </p:spPr>
      </p:pic>
      <p:sp>
        <p:nvSpPr>
          <p:cNvPr id="3" name="Text 0"/>
          <p:cNvSpPr/>
          <p:nvPr/>
        </p:nvSpPr>
        <p:spPr>
          <a:xfrm>
            <a:off x="571500" y="428625"/>
            <a:ext cx="8001000" cy="514350"/>
          </a:xfrm>
          <a:prstGeom prst="rect">
            <a:avLst/>
          </a:prstGeom>
          <a:noFill/>
          <a:ln/>
        </p:spPr>
        <p:txBody>
          <a:bodyPr wrap="none" lIns="0" tIns="0" rIns="0" bIns="0" rtlCol="0" anchor="t">
            <a:spAutoFit/>
          </a:bodyPr>
          <a:lstStyle/>
          <a:p>
            <a:pPr algn="ctr" indent="0" marL="0">
              <a:lnSpc>
                <a:spcPts val="4100"/>
              </a:lnSpc>
              <a:buNone/>
            </a:pPr>
            <a:r>
              <a:rPr lang="en-US" sz="2436" b="1" dirty="0">
                <a:solidFill>
                  <a:srgbClr val="2D5016"/>
                </a:solidFill>
              </a:rPr>
              <a:t>Key Descriptive Indicators</a:t>
            </a:r>
            <a:endParaRPr lang="en-US" sz="2436" dirty="0"/>
          </a:p>
        </p:txBody>
      </p:sp>
      <p:sp>
        <p:nvSpPr>
          <p:cNvPr id="4" name="Shape 1"/>
          <p:cNvSpPr/>
          <p:nvPr/>
        </p:nvSpPr>
        <p:spPr>
          <a:xfrm>
            <a:off x="571500" y="1371600"/>
            <a:ext cx="2428875" cy="2413136"/>
          </a:xfrm>
          <a:prstGeom prst="rect">
            <a:avLst/>
          </a:prstGeom>
          <a:solidFill>
            <a:srgbClr val="2D5016">
              <a:alpha val="5000"/>
            </a:srgbClr>
          </a:solidFill>
          <a:ln/>
        </p:spPr>
      </p:sp>
      <p:sp>
        <p:nvSpPr>
          <p:cNvPr id="5" name="Shape 2"/>
          <p:cNvSpPr/>
          <p:nvPr/>
        </p:nvSpPr>
        <p:spPr>
          <a:xfrm>
            <a:off x="571500" y="1371600"/>
            <a:ext cx="2428875" cy="28575"/>
          </a:xfrm>
          <a:prstGeom prst="rect">
            <a:avLst/>
          </a:prstGeom>
          <a:solidFill>
            <a:srgbClr val="C1502E"/>
          </a:solidFill>
          <a:ln/>
        </p:spPr>
      </p:sp>
      <p:pic>
        <p:nvPicPr>
          <p:cNvPr id="6" name="Image 1" descr="preencoded.png">    </p:cNvPr>
          <p:cNvPicPr>
            <a:picLocks noChangeAspect="1"/>
          </p:cNvPicPr>
          <p:nvPr/>
        </p:nvPicPr>
        <p:blipFill>
          <a:blip r:embed="rId2"/>
          <a:stretch>
            <a:fillRect/>
          </a:stretch>
        </p:blipFill>
        <p:spPr>
          <a:xfrm>
            <a:off x="1535906" y="1585913"/>
            <a:ext cx="500063" cy="400050"/>
          </a:xfrm>
          <a:prstGeom prst="rect">
            <a:avLst/>
          </a:prstGeom>
        </p:spPr>
      </p:pic>
      <p:sp>
        <p:nvSpPr>
          <p:cNvPr id="7" name="Text 3"/>
          <p:cNvSpPr/>
          <p:nvPr/>
        </p:nvSpPr>
        <p:spPr>
          <a:xfrm>
            <a:off x="714375" y="2164556"/>
            <a:ext cx="2143125" cy="400050"/>
          </a:xfrm>
          <a:prstGeom prst="rect">
            <a:avLst/>
          </a:prstGeom>
          <a:noFill/>
          <a:ln/>
        </p:spPr>
        <p:txBody>
          <a:bodyPr wrap="none" lIns="0" tIns="0" rIns="0" bIns="0" rtlCol="0" anchor="t">
            <a:spAutoFit/>
          </a:bodyPr>
          <a:lstStyle/>
          <a:p>
            <a:pPr algn="ctr" indent="0" marL="0">
              <a:lnSpc>
                <a:spcPts val="3200"/>
              </a:lnSpc>
              <a:buNone/>
            </a:pPr>
            <a:r>
              <a:rPr lang="en-US" sz="2862" b="1" dirty="0">
                <a:solidFill>
                  <a:srgbClr val="C1502E"/>
                </a:solidFill>
              </a:rPr>
              <a:t>6.35M</a:t>
            </a:r>
            <a:endParaRPr lang="en-US" sz="2862" dirty="0"/>
          </a:p>
        </p:txBody>
      </p:sp>
      <p:sp>
        <p:nvSpPr>
          <p:cNvPr id="8" name="Text 4"/>
          <p:cNvSpPr/>
          <p:nvPr/>
        </p:nvSpPr>
        <p:spPr>
          <a:xfrm>
            <a:off x="714375" y="2671763"/>
            <a:ext cx="2143125" cy="334305"/>
          </a:xfrm>
          <a:prstGeom prst="rect">
            <a:avLst/>
          </a:prstGeom>
          <a:noFill/>
          <a:ln/>
        </p:spPr>
        <p:txBody>
          <a:bodyPr wrap="square" lIns="0" tIns="0" rIns="0" bIns="0" rtlCol="0" anchor="t">
            <a:spAutoFit/>
          </a:bodyPr>
          <a:lstStyle/>
          <a:p>
            <a:pPr algn="ctr" indent="0" marL="0">
              <a:lnSpc>
                <a:spcPts val="1300"/>
              </a:lnSpc>
              <a:buNone/>
            </a:pPr>
            <a:r>
              <a:rPr lang="en-US" sz="885" b="1" dirty="0">
                <a:solidFill>
                  <a:srgbClr val="2D5016"/>
                </a:solidFill>
              </a:rPr>
              <a:t>Total Households Engaged in Farming</a:t>
            </a:r>
            <a:endParaRPr lang="en-US" sz="885" dirty="0"/>
          </a:p>
        </p:txBody>
      </p:sp>
      <p:sp>
        <p:nvSpPr>
          <p:cNvPr id="9" name="Text 5"/>
          <p:cNvSpPr/>
          <p:nvPr/>
        </p:nvSpPr>
        <p:spPr>
          <a:xfrm>
            <a:off x="714375" y="3091793"/>
            <a:ext cx="2143125" cy="450056"/>
          </a:xfrm>
          <a:prstGeom prst="rect">
            <a:avLst/>
          </a:prstGeom>
          <a:noFill/>
          <a:ln/>
        </p:spPr>
        <p:txBody>
          <a:bodyPr wrap="square" lIns="0" tIns="0" rIns="0" bIns="0" rtlCol="0" anchor="t">
            <a:spAutoFit/>
          </a:bodyPr>
          <a:lstStyle/>
          <a:p>
            <a:pPr algn="ctr" indent="0" marL="0">
              <a:lnSpc>
                <a:spcPts val="1200"/>
              </a:lnSpc>
              <a:buNone/>
            </a:pPr>
            <a:r>
              <a:rPr lang="en-US" sz="727" dirty="0">
                <a:solidFill>
                  <a:srgbClr val="4A4A4A"/>
                </a:solidFill>
              </a:rPr>
              <a:t>Represents the total number of households across all analyzed counties actively participating in agricultural activities</a:t>
            </a:r>
            <a:endParaRPr lang="en-US" sz="727" dirty="0"/>
          </a:p>
        </p:txBody>
      </p:sp>
      <p:sp>
        <p:nvSpPr>
          <p:cNvPr id="10" name="Shape 6"/>
          <p:cNvSpPr/>
          <p:nvPr/>
        </p:nvSpPr>
        <p:spPr>
          <a:xfrm>
            <a:off x="3357563" y="1371600"/>
            <a:ext cx="2428875" cy="2384561"/>
          </a:xfrm>
          <a:prstGeom prst="rect">
            <a:avLst/>
          </a:prstGeom>
          <a:solidFill>
            <a:srgbClr val="2D5016">
              <a:alpha val="5000"/>
            </a:srgbClr>
          </a:solidFill>
          <a:ln/>
        </p:spPr>
      </p:sp>
      <p:sp>
        <p:nvSpPr>
          <p:cNvPr id="11" name="Shape 7"/>
          <p:cNvSpPr/>
          <p:nvPr/>
        </p:nvSpPr>
        <p:spPr>
          <a:xfrm>
            <a:off x="3357563" y="1371600"/>
            <a:ext cx="2428875" cy="28575"/>
          </a:xfrm>
          <a:prstGeom prst="rect">
            <a:avLst/>
          </a:prstGeom>
          <a:solidFill>
            <a:srgbClr val="7A9B57"/>
          </a:solidFill>
          <a:ln/>
        </p:spPr>
      </p:sp>
      <p:pic>
        <p:nvPicPr>
          <p:cNvPr id="12" name="Image 2" descr="preencoded.png">    </p:cNvPr>
          <p:cNvPicPr>
            <a:picLocks noChangeAspect="1"/>
          </p:cNvPicPr>
          <p:nvPr/>
        </p:nvPicPr>
        <p:blipFill>
          <a:blip r:embed="rId3"/>
          <a:stretch>
            <a:fillRect/>
          </a:stretch>
        </p:blipFill>
        <p:spPr>
          <a:xfrm>
            <a:off x="4346972" y="1585913"/>
            <a:ext cx="450056" cy="400050"/>
          </a:xfrm>
          <a:prstGeom prst="rect">
            <a:avLst/>
          </a:prstGeom>
        </p:spPr>
      </p:pic>
      <p:sp>
        <p:nvSpPr>
          <p:cNvPr id="13" name="Text 8"/>
          <p:cNvSpPr/>
          <p:nvPr/>
        </p:nvSpPr>
        <p:spPr>
          <a:xfrm>
            <a:off x="3806251" y="2164556"/>
            <a:ext cx="1531497" cy="400050"/>
          </a:xfrm>
          <a:prstGeom prst="rect">
            <a:avLst/>
          </a:prstGeom>
          <a:noFill/>
          <a:ln/>
        </p:spPr>
        <p:txBody>
          <a:bodyPr wrap="none" lIns="0" tIns="0" rIns="0" bIns="0" rtlCol="0" anchor="t">
            <a:spAutoFit/>
          </a:bodyPr>
          <a:lstStyle/>
          <a:p>
            <a:pPr algn="ctr" indent="0" marL="0">
              <a:lnSpc>
                <a:spcPts val="3200"/>
              </a:lnSpc>
              <a:buNone/>
            </a:pPr>
            <a:r>
              <a:rPr lang="en-US" sz="2862" b="1" dirty="0">
                <a:solidFill>
                  <a:srgbClr val="C1502E"/>
                </a:solidFill>
              </a:rPr>
              <a:t>4.51</a:t>
            </a:r>
            <a:endParaRPr lang="en-US" sz="2862" dirty="0"/>
          </a:p>
        </p:txBody>
      </p:sp>
      <p:sp>
        <p:nvSpPr>
          <p:cNvPr id="14" name="Text 9"/>
          <p:cNvSpPr/>
          <p:nvPr/>
        </p:nvSpPr>
        <p:spPr>
          <a:xfrm>
            <a:off x="3806251" y="2671763"/>
            <a:ext cx="1531497" cy="167153"/>
          </a:xfrm>
          <a:prstGeom prst="rect">
            <a:avLst/>
          </a:prstGeom>
          <a:noFill/>
          <a:ln/>
        </p:spPr>
        <p:txBody>
          <a:bodyPr wrap="none" lIns="0" tIns="0" rIns="0" bIns="0" rtlCol="0" anchor="t">
            <a:spAutoFit/>
          </a:bodyPr>
          <a:lstStyle/>
          <a:p>
            <a:pPr algn="ctr" indent="0" marL="0">
              <a:lnSpc>
                <a:spcPts val="1300"/>
              </a:lnSpc>
              <a:buNone/>
            </a:pPr>
            <a:r>
              <a:rPr lang="en-US" sz="885" b="1" dirty="0">
                <a:solidFill>
                  <a:srgbClr val="2D5016"/>
                </a:solidFill>
              </a:rPr>
              <a:t>Average Household Size</a:t>
            </a:r>
            <a:endParaRPr lang="en-US" sz="885" dirty="0"/>
          </a:p>
        </p:txBody>
      </p:sp>
      <p:sp>
        <p:nvSpPr>
          <p:cNvPr id="15" name="Text 10"/>
          <p:cNvSpPr/>
          <p:nvPr/>
        </p:nvSpPr>
        <p:spPr>
          <a:xfrm>
            <a:off x="3500438" y="3091793"/>
            <a:ext cx="2143125" cy="450056"/>
          </a:xfrm>
          <a:prstGeom prst="rect">
            <a:avLst/>
          </a:prstGeom>
          <a:noFill/>
          <a:ln/>
        </p:spPr>
        <p:txBody>
          <a:bodyPr wrap="square" lIns="0" tIns="0" rIns="0" bIns="0" rtlCol="0" anchor="t">
            <a:spAutoFit/>
          </a:bodyPr>
          <a:lstStyle/>
          <a:p>
            <a:pPr algn="ctr" indent="0" marL="0">
              <a:lnSpc>
                <a:spcPts val="1200"/>
              </a:lnSpc>
              <a:buNone/>
            </a:pPr>
            <a:r>
              <a:rPr lang="en-US" sz="727" dirty="0">
                <a:solidFill>
                  <a:srgbClr val="4A4A4A"/>
                </a:solidFill>
              </a:rPr>
              <a:t>Mean number of persons per household, a key demographic factor for food security and resource planning</a:t>
            </a:r>
            <a:endParaRPr lang="en-US" sz="727" dirty="0"/>
          </a:p>
        </p:txBody>
      </p:sp>
      <p:sp>
        <p:nvSpPr>
          <p:cNvPr id="16" name="Shape 11"/>
          <p:cNvSpPr/>
          <p:nvPr/>
        </p:nvSpPr>
        <p:spPr>
          <a:xfrm>
            <a:off x="6143625" y="1371600"/>
            <a:ext cx="2428875" cy="2384561"/>
          </a:xfrm>
          <a:prstGeom prst="rect">
            <a:avLst/>
          </a:prstGeom>
          <a:solidFill>
            <a:srgbClr val="2D5016">
              <a:alpha val="5000"/>
            </a:srgbClr>
          </a:solidFill>
          <a:ln/>
        </p:spPr>
      </p:sp>
      <p:sp>
        <p:nvSpPr>
          <p:cNvPr id="17" name="Shape 12"/>
          <p:cNvSpPr/>
          <p:nvPr/>
        </p:nvSpPr>
        <p:spPr>
          <a:xfrm>
            <a:off x="6143625" y="1371600"/>
            <a:ext cx="2428875" cy="28575"/>
          </a:xfrm>
          <a:prstGeom prst="rect">
            <a:avLst/>
          </a:prstGeom>
          <a:solidFill>
            <a:srgbClr val="2D5016"/>
          </a:solidFill>
          <a:ln/>
        </p:spPr>
      </p:sp>
      <p:pic>
        <p:nvPicPr>
          <p:cNvPr id="18" name="Image 3" descr="preencoded.png">    </p:cNvPr>
          <p:cNvPicPr>
            <a:picLocks noChangeAspect="1"/>
          </p:cNvPicPr>
          <p:nvPr/>
        </p:nvPicPr>
        <p:blipFill>
          <a:blip r:embed="rId4"/>
          <a:stretch>
            <a:fillRect/>
          </a:stretch>
        </p:blipFill>
        <p:spPr>
          <a:xfrm>
            <a:off x="7133034" y="1585913"/>
            <a:ext cx="450056" cy="400050"/>
          </a:xfrm>
          <a:prstGeom prst="rect">
            <a:avLst/>
          </a:prstGeom>
        </p:spPr>
      </p:pic>
      <p:sp>
        <p:nvSpPr>
          <p:cNvPr id="19" name="Text 13"/>
          <p:cNvSpPr/>
          <p:nvPr/>
        </p:nvSpPr>
        <p:spPr>
          <a:xfrm>
            <a:off x="6312954" y="2164556"/>
            <a:ext cx="2090217" cy="400050"/>
          </a:xfrm>
          <a:prstGeom prst="rect">
            <a:avLst/>
          </a:prstGeom>
          <a:noFill/>
          <a:ln/>
        </p:spPr>
        <p:txBody>
          <a:bodyPr wrap="none" lIns="0" tIns="0" rIns="0" bIns="0" rtlCol="0" anchor="t">
            <a:spAutoFit/>
          </a:bodyPr>
          <a:lstStyle/>
          <a:p>
            <a:pPr algn="ctr" indent="0" marL="0">
              <a:lnSpc>
                <a:spcPts val="3200"/>
              </a:lnSpc>
              <a:buNone/>
            </a:pPr>
            <a:r>
              <a:rPr lang="en-US" sz="2862" b="1" dirty="0">
                <a:solidFill>
                  <a:srgbClr val="C1502E"/>
                </a:solidFill>
              </a:rPr>
              <a:t>60.7%</a:t>
            </a:r>
            <a:endParaRPr lang="en-US" sz="2862" dirty="0"/>
          </a:p>
        </p:txBody>
      </p:sp>
      <p:sp>
        <p:nvSpPr>
          <p:cNvPr id="20" name="Text 14"/>
          <p:cNvSpPr/>
          <p:nvPr/>
        </p:nvSpPr>
        <p:spPr>
          <a:xfrm>
            <a:off x="6312954" y="2671763"/>
            <a:ext cx="2090217" cy="167153"/>
          </a:xfrm>
          <a:prstGeom prst="rect">
            <a:avLst/>
          </a:prstGeom>
          <a:noFill/>
          <a:ln/>
        </p:spPr>
        <p:txBody>
          <a:bodyPr wrap="none" lIns="0" tIns="0" rIns="0" bIns="0" rtlCol="0" anchor="t">
            <a:spAutoFit/>
          </a:bodyPr>
          <a:lstStyle/>
          <a:p>
            <a:pPr algn="ctr" indent="0" marL="0">
              <a:lnSpc>
                <a:spcPts val="1300"/>
              </a:lnSpc>
              <a:buNone/>
            </a:pPr>
            <a:r>
              <a:rPr lang="en-US" sz="885" b="1" dirty="0">
                <a:solidFill>
                  <a:srgbClr val="2D5016"/>
                </a:solidFill>
              </a:rPr>
              <a:t>Agricultural Specialization Index</a:t>
            </a:r>
            <a:endParaRPr lang="en-US" sz="885" dirty="0"/>
          </a:p>
        </p:txBody>
      </p:sp>
      <p:sp>
        <p:nvSpPr>
          <p:cNvPr id="21" name="Text 15"/>
          <p:cNvSpPr/>
          <p:nvPr/>
        </p:nvSpPr>
        <p:spPr>
          <a:xfrm>
            <a:off x="6286500" y="3091793"/>
            <a:ext cx="2143125" cy="450056"/>
          </a:xfrm>
          <a:prstGeom prst="rect">
            <a:avLst/>
          </a:prstGeom>
          <a:noFill/>
          <a:ln/>
        </p:spPr>
        <p:txBody>
          <a:bodyPr wrap="square" lIns="0" tIns="0" rIns="0" bIns="0" rtlCol="0" anchor="t">
            <a:spAutoFit/>
          </a:bodyPr>
          <a:lstStyle/>
          <a:p>
            <a:pPr algn="ctr" indent="0" marL="0">
              <a:lnSpc>
                <a:spcPts val="1200"/>
              </a:lnSpc>
              <a:buNone/>
            </a:pPr>
            <a:r>
              <a:rPr lang="en-US" sz="727" dirty="0">
                <a:solidFill>
                  <a:srgbClr val="4A4A4A"/>
                </a:solidFill>
              </a:rPr>
              <a:t>Average percentage of households engaged in farming across counties, indicating agricultural dependency</a:t>
            </a:r>
            <a:endParaRPr lang="en-US" sz="727" dirty="0"/>
          </a:p>
        </p:txBody>
      </p:sp>
      <p:sp>
        <p:nvSpPr>
          <p:cNvPr id="22" name="Shape 16"/>
          <p:cNvSpPr/>
          <p:nvPr/>
        </p:nvSpPr>
        <p:spPr>
          <a:xfrm>
            <a:off x="571500" y="4113349"/>
            <a:ext cx="8001000" cy="940101"/>
          </a:xfrm>
          <a:prstGeom prst="rect">
            <a:avLst/>
          </a:prstGeom>
          <a:solidFill>
            <a:srgbClr val="7A9B57">
              <a:alpha val="12000"/>
            </a:srgbClr>
          </a:solidFill>
          <a:ln/>
        </p:spPr>
      </p:sp>
      <p:sp>
        <p:nvSpPr>
          <p:cNvPr id="23" name="Shape 17"/>
          <p:cNvSpPr/>
          <p:nvPr/>
        </p:nvSpPr>
        <p:spPr>
          <a:xfrm>
            <a:off x="571500" y="4113349"/>
            <a:ext cx="28575" cy="940101"/>
          </a:xfrm>
          <a:prstGeom prst="rect">
            <a:avLst/>
          </a:prstGeom>
          <a:solidFill>
            <a:srgbClr val="7A9B57"/>
          </a:solidFill>
          <a:ln/>
        </p:spPr>
      </p:sp>
      <p:sp>
        <p:nvSpPr>
          <p:cNvPr id="24" name="Text 18"/>
          <p:cNvSpPr/>
          <p:nvPr/>
        </p:nvSpPr>
        <p:spPr>
          <a:xfrm>
            <a:off x="571500" y="4113349"/>
            <a:ext cx="8001000" cy="940101"/>
          </a:xfrm>
          <a:prstGeom prst="rect">
            <a:avLst/>
          </a:prstGeom>
          <a:noFill/>
          <a:ln/>
        </p:spPr>
        <p:txBody>
          <a:bodyPr wrap="square" lIns="340233" tIns="212598" rIns="340233" bIns="212598" rtlCol="0" anchor="t">
            <a:spAutoFit/>
          </a:bodyPr>
          <a:lstStyle/>
          <a:p>
            <a:pPr algn="ctr" indent="0" marL="0">
              <a:lnSpc>
                <a:spcPts val="1500"/>
              </a:lnSpc>
              <a:buNone/>
            </a:pPr>
            <a:r>
              <a:rPr lang="en-US" sz="784" b="1" dirty="0">
                <a:solidFill>
                  <a:srgbClr val="4A4A4A"/>
                </a:solidFill>
              </a:rPr>
              <a:t>Interpretation:</a:t>
            </a:r>
            <a:pPr algn="ctr" indent="0" marL="0">
              <a:lnSpc>
                <a:spcPts val="1500"/>
              </a:lnSpc>
              <a:buNone/>
            </a:pPr>
            <a:r>
              <a:rPr lang="en-US" sz="834" dirty="0">
                <a:solidFill>
                  <a:srgbClr val="4A4A4A"/>
                </a:solidFill>
              </a:rPr>
              <a:t> A significant portion of the population across the analyzed counties is engaged in agriculture, highlighting the sector's </a:t>
            </a:r>
            <a:pPr algn="ctr" indent="0" marL="0">
              <a:lnSpc>
                <a:spcPts val="1500"/>
              </a:lnSpc>
              <a:buNone/>
            </a:pPr>
            <a:r>
              <a:rPr lang="en-US" sz="834" dirty="0">
                <a:solidFill>
                  <a:srgbClr val="4A4A4A"/>
                </a:solidFill>
              </a:rPr>
              <a:t>critical importance for livelihoods and economic development. The average household size provides essential context for food security </a:t>
            </a:r>
            <a:pPr algn="ctr" indent="0" marL="0">
              <a:lnSpc>
                <a:spcPts val="1500"/>
              </a:lnSpc>
              <a:buNone/>
            </a:pPr>
            <a:r>
              <a:rPr lang="en-US" sz="834" dirty="0">
                <a:solidFill>
                  <a:srgbClr val="4A4A4A"/>
                </a:solidFill>
              </a:rPr>
              <a:t>planning and resource allocation strategies.</a:t>
            </a:r>
            <a:endParaRPr lang="en-US" sz="7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172200"/>
          </a:xfrm>
          <a:prstGeom prst="rect">
            <a:avLst/>
          </a:prstGeom>
        </p:spPr>
      </p:pic>
      <p:sp>
        <p:nvSpPr>
          <p:cNvPr id="3" name="Text 0"/>
          <p:cNvSpPr/>
          <p:nvPr/>
        </p:nvSpPr>
        <p:spPr>
          <a:xfrm>
            <a:off x="571500" y="428625"/>
            <a:ext cx="8001000" cy="514350"/>
          </a:xfrm>
          <a:prstGeom prst="rect">
            <a:avLst/>
          </a:prstGeom>
          <a:noFill/>
          <a:ln/>
        </p:spPr>
        <p:txBody>
          <a:bodyPr wrap="none" lIns="0" tIns="0" rIns="0" bIns="0" rtlCol="0" anchor="t">
            <a:spAutoFit/>
          </a:bodyPr>
          <a:lstStyle/>
          <a:p>
            <a:pPr algn="ctr" indent="0" marL="0">
              <a:lnSpc>
                <a:spcPts val="4100"/>
              </a:lnSpc>
              <a:buNone/>
            </a:pPr>
            <a:r>
              <a:rPr lang="en-US" sz="2436" b="1" dirty="0">
                <a:solidFill>
                  <a:srgbClr val="2D5016"/>
                </a:solidFill>
              </a:rPr>
              <a:t>Top Counties by Crop Production</a:t>
            </a:r>
            <a:endParaRPr lang="en-US" sz="2436" dirty="0"/>
          </a:p>
        </p:txBody>
      </p:sp>
      <p:sp>
        <p:nvSpPr>
          <p:cNvPr id="4" name="Text 1"/>
          <p:cNvSpPr/>
          <p:nvPr/>
        </p:nvSpPr>
        <p:spPr>
          <a:xfrm>
            <a:off x="571500" y="1085850"/>
            <a:ext cx="8001000" cy="192881"/>
          </a:xfrm>
          <a:prstGeom prst="rect">
            <a:avLst/>
          </a:prstGeom>
          <a:noFill/>
          <a:ln/>
        </p:spPr>
        <p:txBody>
          <a:bodyPr wrap="none" lIns="0" tIns="0" rIns="0" bIns="0" rtlCol="0" anchor="t">
            <a:spAutoFit/>
          </a:bodyPr>
          <a:lstStyle/>
          <a:p>
            <a:pPr algn="ctr" indent="0" marL="0">
              <a:lnSpc>
                <a:spcPts val="1500"/>
              </a:lnSpc>
              <a:buNone/>
            </a:pPr>
            <a:r>
              <a:rPr lang="en-US" sz="942" dirty="0">
                <a:solidFill>
                  <a:srgbClr val="4A4A4A"/>
                </a:solidFill>
              </a:rPr>
              <a:t>Households Engaged in Crop Production by County</a:t>
            </a:r>
            <a:endParaRPr lang="en-US" sz="942" dirty="0"/>
          </a:p>
        </p:txBody>
      </p:sp>
      <p:sp>
        <p:nvSpPr>
          <p:cNvPr id="5" name="Shape 2"/>
          <p:cNvSpPr/>
          <p:nvPr/>
        </p:nvSpPr>
        <p:spPr>
          <a:xfrm>
            <a:off x="571500" y="1600200"/>
            <a:ext cx="8001000" cy="4143375"/>
          </a:xfrm>
          <a:prstGeom prst="rect">
            <a:avLst/>
          </a:prstGeom>
          <a:solidFill>
            <a:srgbClr val="FFFFFF"/>
          </a:solidFill>
          <a:ln/>
        </p:spPr>
      </p:sp>
      <p:sp>
        <p:nvSpPr>
          <p:cNvPr id="6" name="Shape 3"/>
          <p:cNvSpPr/>
          <p:nvPr/>
        </p:nvSpPr>
        <p:spPr>
          <a:xfrm>
            <a:off x="571500" y="1600200"/>
            <a:ext cx="42863" cy="4143375"/>
          </a:xfrm>
          <a:prstGeom prst="rect">
            <a:avLst/>
          </a:prstGeom>
          <a:solidFill>
            <a:srgbClr val="C1502E"/>
          </a:solidFill>
          <a:ln/>
        </p:spPr>
      </p:sp>
      <p:pic>
        <p:nvPicPr>
          <p:cNvPr id="7" name="Image 1" descr="preencoded.png">    </p:cNvPr>
          <p:cNvPicPr>
            <a:picLocks noChangeAspect="1"/>
          </p:cNvPicPr>
          <p:nvPr/>
        </p:nvPicPr>
        <p:blipFill>
          <a:blip r:embed="rId2"/>
          <a:stretch>
            <a:fillRect/>
          </a:stretch>
        </p:blipFill>
        <p:spPr>
          <a:xfrm>
            <a:off x="785813" y="1814513"/>
            <a:ext cx="7572375" cy="37147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993606"/>
          </a:xfrm>
          <a:prstGeom prst="rect">
            <a:avLst/>
          </a:prstGeom>
        </p:spPr>
      </p:pic>
      <p:sp>
        <p:nvSpPr>
          <p:cNvPr id="3" name="Text 0"/>
          <p:cNvSpPr/>
          <p:nvPr/>
        </p:nvSpPr>
        <p:spPr>
          <a:xfrm>
            <a:off x="500063" y="285750"/>
            <a:ext cx="8143875" cy="450056"/>
          </a:xfrm>
          <a:prstGeom prst="rect">
            <a:avLst/>
          </a:prstGeom>
          <a:noFill/>
          <a:ln/>
        </p:spPr>
        <p:txBody>
          <a:bodyPr wrap="none" lIns="0" tIns="0" rIns="0" bIns="0" rtlCol="0" anchor="t">
            <a:spAutoFit/>
          </a:bodyPr>
          <a:lstStyle/>
          <a:p>
            <a:pPr algn="l" indent="0" marL="0">
              <a:lnSpc>
                <a:spcPts val="3500"/>
              </a:lnSpc>
              <a:buNone/>
            </a:pPr>
            <a:r>
              <a:rPr lang="en-US" sz="2121" b="1" dirty="0">
                <a:solidFill>
                  <a:srgbClr val="2D5016"/>
                </a:solidFill>
              </a:rPr>
              <a:t>Crop Production: Key Insights &amp; Policy Implications</a:t>
            </a:r>
            <a:endParaRPr lang="en-US" sz="2121" dirty="0"/>
          </a:p>
        </p:txBody>
      </p:sp>
      <p:sp>
        <p:nvSpPr>
          <p:cNvPr id="4" name="Shape 1"/>
          <p:cNvSpPr/>
          <p:nvPr/>
        </p:nvSpPr>
        <p:spPr>
          <a:xfrm>
            <a:off x="500063" y="914400"/>
            <a:ext cx="4007644" cy="1085850"/>
          </a:xfrm>
          <a:prstGeom prst="rect">
            <a:avLst/>
          </a:prstGeom>
          <a:solidFill>
            <a:srgbClr val="2D5016">
              <a:alpha val="8000"/>
            </a:srgbClr>
          </a:solidFill>
          <a:ln/>
        </p:spPr>
      </p:sp>
      <p:sp>
        <p:nvSpPr>
          <p:cNvPr id="5" name="Shape 2"/>
          <p:cNvSpPr/>
          <p:nvPr/>
        </p:nvSpPr>
        <p:spPr>
          <a:xfrm>
            <a:off x="500063" y="914400"/>
            <a:ext cx="28575" cy="1085850"/>
          </a:xfrm>
          <a:prstGeom prst="rect">
            <a:avLst/>
          </a:prstGeom>
          <a:solidFill>
            <a:srgbClr val="7A9B57"/>
          </a:solidFill>
          <a:ln/>
        </p:spPr>
      </p:sp>
      <p:sp>
        <p:nvSpPr>
          <p:cNvPr id="6" name="Text 3"/>
          <p:cNvSpPr/>
          <p:nvPr/>
        </p:nvSpPr>
        <p:spPr>
          <a:xfrm>
            <a:off x="628650" y="1042988"/>
            <a:ext cx="3750469"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C1502E"/>
                </a:solidFill>
              </a:rPr>
              <a:t>01</a:t>
            </a:r>
            <a:endParaRPr lang="en-US" sz="1193" dirty="0"/>
          </a:p>
        </p:txBody>
      </p:sp>
      <p:sp>
        <p:nvSpPr>
          <p:cNvPr id="7" name="Text 4"/>
          <p:cNvSpPr/>
          <p:nvPr/>
        </p:nvSpPr>
        <p:spPr>
          <a:xfrm>
            <a:off x="628650" y="1357313"/>
            <a:ext cx="3750469" cy="514350"/>
          </a:xfrm>
          <a:prstGeom prst="rect">
            <a:avLst/>
          </a:prstGeom>
          <a:noFill/>
          <a:ln/>
        </p:spPr>
        <p:txBody>
          <a:bodyPr wrap="square" lIns="0" tIns="0" rIns="0" bIns="0" rtlCol="0" anchor="t">
            <a:spAutoFit/>
          </a:bodyPr>
          <a:lstStyle/>
          <a:p>
            <a:pPr algn="l" indent="0" marL="0">
              <a:lnSpc>
                <a:spcPts val="1400"/>
              </a:lnSpc>
              <a:buNone/>
            </a:pPr>
            <a:r>
              <a:rPr lang="en-US" sz="734" b="1" dirty="0">
                <a:solidFill>
                  <a:srgbClr val="C1502E"/>
                </a:solidFill>
              </a:rPr>
              <a:t>Kakamega</a:t>
            </a:r>
            <a:pPr algn="l" indent="0" marL="0">
              <a:lnSpc>
                <a:spcPts val="1400"/>
              </a:lnSpc>
              <a:buNone/>
            </a:pPr>
            <a:r>
              <a:rPr lang="en-US" sz="780" dirty="0">
                <a:solidFill>
                  <a:srgbClr val="4A4A4A"/>
                </a:solidFill>
              </a:rPr>
              <a:t> leads with over 321,000 households engaged in crop </a:t>
            </a:r>
            <a:pPr algn="l" indent="0" marL="0">
              <a:lnSpc>
                <a:spcPts val="1400"/>
              </a:lnSpc>
              <a:buNone/>
            </a:pPr>
            <a:r>
              <a:rPr lang="en-US" sz="780" dirty="0">
                <a:solidFill>
                  <a:srgbClr val="4A4A4A"/>
                </a:solidFill>
              </a:rPr>
              <a:t>production, followed closely by </a:t>
            </a:r>
            <a:pPr algn="l" indent="0" marL="0">
              <a:lnSpc>
                <a:spcPts val="1400"/>
              </a:lnSpc>
              <a:buNone/>
            </a:pPr>
            <a:r>
              <a:rPr lang="en-US" sz="734" b="1" dirty="0">
                <a:solidFill>
                  <a:srgbClr val="C1502E"/>
                </a:solidFill>
              </a:rPr>
              <a:t>Bungoma</a:t>
            </a:r>
            <a:pPr algn="l" indent="0" marL="0">
              <a:lnSpc>
                <a:spcPts val="1400"/>
              </a:lnSpc>
              <a:buNone/>
            </a:pPr>
            <a:r>
              <a:rPr lang="en-US" sz="780" dirty="0">
                <a:solidFill>
                  <a:srgbClr val="4A4A4A"/>
                </a:solidFill>
              </a:rPr>
              <a:t> (270,000) and </a:t>
            </a:r>
            <a:pPr algn="l" indent="0" marL="0">
              <a:lnSpc>
                <a:spcPts val="1400"/>
              </a:lnSpc>
              <a:buNone/>
            </a:pPr>
            <a:r>
              <a:rPr lang="en-US" sz="734" b="1" dirty="0">
                <a:solidFill>
                  <a:srgbClr val="C1502E"/>
                </a:solidFill>
              </a:rPr>
              <a:t>Meru</a:t>
            </a:r>
            <a:pPr algn="l" indent="0" marL="0">
              <a:lnSpc>
                <a:spcPts val="1400"/>
              </a:lnSpc>
              <a:buNone/>
            </a:pPr>
            <a:r>
              <a:rPr lang="en-US" sz="780" dirty="0">
                <a:solidFill>
                  <a:srgbClr val="4A4A4A"/>
                </a:solidFill>
              </a:rPr>
              <a:t> (250,000), </a:t>
            </a:r>
            <a:pPr algn="l" indent="0" marL="0">
              <a:lnSpc>
                <a:spcPts val="1400"/>
              </a:lnSpc>
              <a:buNone/>
            </a:pPr>
            <a:r>
              <a:rPr lang="en-US" sz="780" dirty="0">
                <a:solidFill>
                  <a:srgbClr val="4A4A4A"/>
                </a:solidFill>
              </a:rPr>
              <a:t>demonstrating significant regional agricultural capacity.</a:t>
            </a:r>
            <a:endParaRPr lang="en-US" sz="734" dirty="0"/>
          </a:p>
        </p:txBody>
      </p:sp>
      <p:sp>
        <p:nvSpPr>
          <p:cNvPr id="8" name="Shape 5"/>
          <p:cNvSpPr/>
          <p:nvPr/>
        </p:nvSpPr>
        <p:spPr>
          <a:xfrm>
            <a:off x="4636294" y="914400"/>
            <a:ext cx="4007644" cy="1085850"/>
          </a:xfrm>
          <a:prstGeom prst="rect">
            <a:avLst/>
          </a:prstGeom>
          <a:solidFill>
            <a:srgbClr val="2D5016">
              <a:alpha val="8000"/>
            </a:srgbClr>
          </a:solidFill>
          <a:ln/>
        </p:spPr>
      </p:sp>
      <p:sp>
        <p:nvSpPr>
          <p:cNvPr id="9" name="Shape 6"/>
          <p:cNvSpPr/>
          <p:nvPr/>
        </p:nvSpPr>
        <p:spPr>
          <a:xfrm>
            <a:off x="4636294" y="914400"/>
            <a:ext cx="28575" cy="1085850"/>
          </a:xfrm>
          <a:prstGeom prst="rect">
            <a:avLst/>
          </a:prstGeom>
          <a:solidFill>
            <a:srgbClr val="7A9B57"/>
          </a:solidFill>
          <a:ln/>
        </p:spPr>
      </p:sp>
      <p:sp>
        <p:nvSpPr>
          <p:cNvPr id="10" name="Text 7"/>
          <p:cNvSpPr/>
          <p:nvPr/>
        </p:nvSpPr>
        <p:spPr>
          <a:xfrm>
            <a:off x="4764881" y="1042988"/>
            <a:ext cx="3750469"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C1502E"/>
                </a:solidFill>
              </a:rPr>
              <a:t>02</a:t>
            </a:r>
            <a:endParaRPr lang="en-US" sz="1193" dirty="0"/>
          </a:p>
        </p:txBody>
      </p:sp>
      <p:sp>
        <p:nvSpPr>
          <p:cNvPr id="11" name="Text 8"/>
          <p:cNvSpPr/>
          <p:nvPr/>
        </p:nvSpPr>
        <p:spPr>
          <a:xfrm>
            <a:off x="4764881" y="1357313"/>
            <a:ext cx="3750469"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The top 10 counties represent geographically diverse regions across the country, indicating that crop production is not concentrated in a single area but spread across different agro-ecological zones.</a:t>
            </a:r>
            <a:endParaRPr lang="en-US" sz="780" dirty="0"/>
          </a:p>
        </p:txBody>
      </p:sp>
      <p:sp>
        <p:nvSpPr>
          <p:cNvPr id="12" name="Shape 9"/>
          <p:cNvSpPr/>
          <p:nvPr/>
        </p:nvSpPr>
        <p:spPr>
          <a:xfrm>
            <a:off x="500063" y="2128838"/>
            <a:ext cx="4007644" cy="1085850"/>
          </a:xfrm>
          <a:prstGeom prst="rect">
            <a:avLst/>
          </a:prstGeom>
          <a:solidFill>
            <a:srgbClr val="2D5016">
              <a:alpha val="8000"/>
            </a:srgbClr>
          </a:solidFill>
          <a:ln/>
        </p:spPr>
      </p:sp>
      <p:sp>
        <p:nvSpPr>
          <p:cNvPr id="13" name="Shape 10"/>
          <p:cNvSpPr/>
          <p:nvPr/>
        </p:nvSpPr>
        <p:spPr>
          <a:xfrm>
            <a:off x="500063" y="2128838"/>
            <a:ext cx="28575" cy="1085850"/>
          </a:xfrm>
          <a:prstGeom prst="rect">
            <a:avLst/>
          </a:prstGeom>
          <a:solidFill>
            <a:srgbClr val="7A9B57"/>
          </a:solidFill>
          <a:ln/>
        </p:spPr>
      </p:sp>
      <p:sp>
        <p:nvSpPr>
          <p:cNvPr id="14" name="Text 11"/>
          <p:cNvSpPr/>
          <p:nvPr/>
        </p:nvSpPr>
        <p:spPr>
          <a:xfrm>
            <a:off x="628650" y="2257425"/>
            <a:ext cx="3750469"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C1502E"/>
                </a:solidFill>
              </a:rPr>
              <a:t>03</a:t>
            </a:r>
            <a:endParaRPr lang="en-US" sz="1193" dirty="0"/>
          </a:p>
        </p:txBody>
      </p:sp>
      <p:sp>
        <p:nvSpPr>
          <p:cNvPr id="15" name="Text 12"/>
          <p:cNvSpPr/>
          <p:nvPr/>
        </p:nvSpPr>
        <p:spPr>
          <a:xfrm>
            <a:off x="628650" y="2571750"/>
            <a:ext cx="3750469"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These counties collectively account for a significant portion of national crop production capacity, making them priority areas for agricultural investment and support programs to maximize food security outcomes.</a:t>
            </a:r>
            <a:endParaRPr lang="en-US" sz="780" dirty="0"/>
          </a:p>
        </p:txBody>
      </p:sp>
      <p:sp>
        <p:nvSpPr>
          <p:cNvPr id="16" name="Shape 13"/>
          <p:cNvSpPr/>
          <p:nvPr/>
        </p:nvSpPr>
        <p:spPr>
          <a:xfrm>
            <a:off x="4636294" y="2128838"/>
            <a:ext cx="4007644" cy="1085850"/>
          </a:xfrm>
          <a:prstGeom prst="rect">
            <a:avLst/>
          </a:prstGeom>
          <a:solidFill>
            <a:srgbClr val="2D5016">
              <a:alpha val="8000"/>
            </a:srgbClr>
          </a:solidFill>
          <a:ln/>
        </p:spPr>
      </p:sp>
      <p:sp>
        <p:nvSpPr>
          <p:cNvPr id="17" name="Shape 14"/>
          <p:cNvSpPr/>
          <p:nvPr/>
        </p:nvSpPr>
        <p:spPr>
          <a:xfrm>
            <a:off x="4636294" y="2128838"/>
            <a:ext cx="28575" cy="1085850"/>
          </a:xfrm>
          <a:prstGeom prst="rect">
            <a:avLst/>
          </a:prstGeom>
          <a:solidFill>
            <a:srgbClr val="7A9B57"/>
          </a:solidFill>
          <a:ln/>
        </p:spPr>
      </p:sp>
      <p:sp>
        <p:nvSpPr>
          <p:cNvPr id="18" name="Text 15"/>
          <p:cNvSpPr/>
          <p:nvPr/>
        </p:nvSpPr>
        <p:spPr>
          <a:xfrm>
            <a:off x="4764881" y="2257425"/>
            <a:ext cx="3750469"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C1502E"/>
                </a:solidFill>
              </a:rPr>
              <a:t>04</a:t>
            </a:r>
            <a:endParaRPr lang="en-US" sz="1193" dirty="0"/>
          </a:p>
        </p:txBody>
      </p:sp>
      <p:sp>
        <p:nvSpPr>
          <p:cNvPr id="19" name="Text 16"/>
          <p:cNvSpPr/>
          <p:nvPr/>
        </p:nvSpPr>
        <p:spPr>
          <a:xfrm>
            <a:off x="4764881" y="2571750"/>
            <a:ext cx="3750469" cy="5143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The distribution suggests varying scales of agricultural activity, from large-scale farming regions to intensive smallholder systems, requiring differentiated support strategies.</a:t>
            </a:r>
            <a:endParaRPr lang="en-US" sz="780" dirty="0"/>
          </a:p>
        </p:txBody>
      </p:sp>
      <p:sp>
        <p:nvSpPr>
          <p:cNvPr id="20" name="Shape 17"/>
          <p:cNvSpPr/>
          <p:nvPr/>
        </p:nvSpPr>
        <p:spPr>
          <a:xfrm>
            <a:off x="500063" y="3393281"/>
            <a:ext cx="8143875" cy="2314575"/>
          </a:xfrm>
          <a:prstGeom prst="rect">
            <a:avLst/>
          </a:prstGeom>
          <a:solidFill>
            <a:srgbClr val="C1502E">
              <a:alpha val="10000"/>
            </a:srgbClr>
          </a:solidFill>
          <a:ln/>
        </p:spPr>
      </p:sp>
      <p:sp>
        <p:nvSpPr>
          <p:cNvPr id="21" name="Shape 18"/>
          <p:cNvSpPr/>
          <p:nvPr/>
        </p:nvSpPr>
        <p:spPr>
          <a:xfrm>
            <a:off x="500063" y="3393281"/>
            <a:ext cx="8143875" cy="28575"/>
          </a:xfrm>
          <a:prstGeom prst="rect">
            <a:avLst/>
          </a:prstGeom>
          <a:solidFill>
            <a:srgbClr val="C1502E"/>
          </a:solidFill>
          <a:ln/>
        </p:spPr>
      </p:sp>
      <p:pic>
        <p:nvPicPr>
          <p:cNvPr id="22" name="Image 1" descr="preencoded.png">    </p:cNvPr>
          <p:cNvPicPr>
            <a:picLocks noChangeAspect="1"/>
          </p:cNvPicPr>
          <p:nvPr/>
        </p:nvPicPr>
        <p:blipFill>
          <a:blip r:embed="rId2"/>
          <a:stretch>
            <a:fillRect/>
          </a:stretch>
        </p:blipFill>
        <p:spPr>
          <a:xfrm>
            <a:off x="700088" y="3586163"/>
            <a:ext cx="185738" cy="185738"/>
          </a:xfrm>
          <a:prstGeom prst="rect">
            <a:avLst/>
          </a:prstGeom>
        </p:spPr>
      </p:pic>
      <p:sp>
        <p:nvSpPr>
          <p:cNvPr id="23" name="Text 19"/>
          <p:cNvSpPr/>
          <p:nvPr/>
        </p:nvSpPr>
        <p:spPr>
          <a:xfrm>
            <a:off x="971550" y="3550444"/>
            <a:ext cx="3439130" cy="257175"/>
          </a:xfrm>
          <a:prstGeom prst="rect">
            <a:avLst/>
          </a:prstGeom>
          <a:noFill/>
          <a:ln/>
        </p:spPr>
        <p:txBody>
          <a:bodyPr wrap="none" lIns="0" tIns="0" rIns="0" bIns="0" rtlCol="0" anchor="t">
            <a:spAutoFit/>
          </a:bodyPr>
          <a:lstStyle/>
          <a:p>
            <a:pPr algn="l" indent="0" marL="0">
              <a:lnSpc>
                <a:spcPts val="2000"/>
              </a:lnSpc>
              <a:buNone/>
            </a:pPr>
            <a:r>
              <a:rPr lang="en-US" sz="1193" b="1" dirty="0">
                <a:solidFill>
                  <a:srgbClr val="2D5016"/>
                </a:solidFill>
              </a:rPr>
              <a:t>Policy Implications &amp; Recommendations</a:t>
            </a:r>
            <a:endParaRPr lang="en-US" sz="1193" dirty="0"/>
          </a:p>
        </p:txBody>
      </p:sp>
      <p:sp>
        <p:nvSpPr>
          <p:cNvPr id="24" name="Shape 20"/>
          <p:cNvSpPr/>
          <p:nvPr/>
        </p:nvSpPr>
        <p:spPr>
          <a:xfrm rot="2700000">
            <a:off x="700088" y="3993356"/>
            <a:ext cx="71438" cy="71438"/>
          </a:xfrm>
          <a:prstGeom prst="rect">
            <a:avLst/>
          </a:prstGeom>
          <a:solidFill>
            <a:srgbClr val="C1502E"/>
          </a:solidFill>
          <a:ln/>
        </p:spPr>
      </p:sp>
      <p:sp>
        <p:nvSpPr>
          <p:cNvPr id="25" name="Text 21"/>
          <p:cNvSpPr/>
          <p:nvPr/>
        </p:nvSpPr>
        <p:spPr>
          <a:xfrm>
            <a:off x="700088" y="3936206"/>
            <a:ext cx="7743825"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2D5016"/>
                </a:solidFill>
              </a:rPr>
              <a:t>Targeted Investment:</a:t>
            </a:r>
            <a:pPr algn="l" indent="0" marL="0">
              <a:lnSpc>
                <a:spcPts val="1400"/>
              </a:lnSpc>
              <a:buNone/>
            </a:pPr>
            <a:r>
              <a:rPr lang="en-US" sz="780" dirty="0">
                <a:solidFill>
                  <a:srgbClr val="4A4A4A"/>
                </a:solidFill>
              </a:rPr>
              <a:t> Prioritize agricultural infrastructure development, extension services, and input subsidies in these high-engagement counties </a:t>
            </a:r>
            <a:pPr algn="l" indent="0" marL="0">
              <a:lnSpc>
                <a:spcPts val="1400"/>
              </a:lnSpc>
              <a:buNone/>
            </a:pPr>
            <a:r>
              <a:rPr lang="en-US" sz="780" dirty="0">
                <a:solidFill>
                  <a:srgbClr val="4A4A4A"/>
                </a:solidFill>
              </a:rPr>
              <a:t>to maximize return on investment and national food security impact.</a:t>
            </a:r>
            <a:endParaRPr lang="en-US" sz="734" dirty="0"/>
          </a:p>
        </p:txBody>
      </p:sp>
      <p:sp>
        <p:nvSpPr>
          <p:cNvPr id="26" name="Shape 22"/>
          <p:cNvSpPr/>
          <p:nvPr/>
        </p:nvSpPr>
        <p:spPr>
          <a:xfrm rot="2700000">
            <a:off x="700088" y="4407694"/>
            <a:ext cx="71438" cy="71438"/>
          </a:xfrm>
          <a:prstGeom prst="rect">
            <a:avLst/>
          </a:prstGeom>
          <a:solidFill>
            <a:srgbClr val="C1502E"/>
          </a:solidFill>
          <a:ln/>
        </p:spPr>
      </p:sp>
      <p:sp>
        <p:nvSpPr>
          <p:cNvPr id="27" name="Text 23"/>
          <p:cNvSpPr/>
          <p:nvPr/>
        </p:nvSpPr>
        <p:spPr>
          <a:xfrm>
            <a:off x="700088" y="4350544"/>
            <a:ext cx="7743825"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2D5016"/>
                </a:solidFill>
              </a:rPr>
              <a:t>Value Chain Development:</a:t>
            </a:r>
            <a:pPr algn="l" indent="0" marL="0">
              <a:lnSpc>
                <a:spcPts val="1400"/>
              </a:lnSpc>
              <a:buNone/>
            </a:pPr>
            <a:r>
              <a:rPr lang="en-US" sz="780" dirty="0">
                <a:solidFill>
                  <a:srgbClr val="4A4A4A"/>
                </a:solidFill>
              </a:rPr>
              <a:t> Strengthen market linkages, storage facilities, and processing capacity in top-producing counties to reduce post-harvest </a:t>
            </a:r>
            <a:pPr algn="l" indent="0" marL="0">
              <a:lnSpc>
                <a:spcPts val="1400"/>
              </a:lnSpc>
              <a:buNone/>
            </a:pPr>
            <a:r>
              <a:rPr lang="en-US" sz="780" dirty="0">
                <a:solidFill>
                  <a:srgbClr val="4A4A4A"/>
                </a:solidFill>
              </a:rPr>
              <a:t>losses and improve farmer incomes.</a:t>
            </a:r>
            <a:endParaRPr lang="en-US" sz="734" dirty="0"/>
          </a:p>
        </p:txBody>
      </p:sp>
      <p:sp>
        <p:nvSpPr>
          <p:cNvPr id="28" name="Shape 24"/>
          <p:cNvSpPr/>
          <p:nvPr/>
        </p:nvSpPr>
        <p:spPr>
          <a:xfrm rot="2700000">
            <a:off x="700088" y="4822031"/>
            <a:ext cx="71438" cy="71438"/>
          </a:xfrm>
          <a:prstGeom prst="rect">
            <a:avLst/>
          </a:prstGeom>
          <a:solidFill>
            <a:srgbClr val="C1502E"/>
          </a:solidFill>
          <a:ln/>
        </p:spPr>
      </p:sp>
      <p:sp>
        <p:nvSpPr>
          <p:cNvPr id="29" name="Text 25"/>
          <p:cNvSpPr/>
          <p:nvPr/>
        </p:nvSpPr>
        <p:spPr>
          <a:xfrm>
            <a:off x="700088" y="4764881"/>
            <a:ext cx="7743825"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2D5016"/>
                </a:solidFill>
              </a:rPr>
              <a:t>Technology Transfer:</a:t>
            </a:r>
            <a:pPr algn="l" indent="0" marL="0">
              <a:lnSpc>
                <a:spcPts val="1400"/>
              </a:lnSpc>
              <a:buNone/>
            </a:pPr>
            <a:r>
              <a:rPr lang="en-US" sz="780" dirty="0">
                <a:solidFill>
                  <a:srgbClr val="4A4A4A"/>
                </a:solidFill>
              </a:rPr>
              <a:t> Establish demonstration farms and farmer training centers in leading counties to promote adoption of improved crop varieties, </a:t>
            </a:r>
            <a:pPr algn="l" indent="0" marL="0">
              <a:lnSpc>
                <a:spcPts val="1400"/>
              </a:lnSpc>
              <a:buNone/>
            </a:pPr>
            <a:r>
              <a:rPr lang="en-US" sz="780" dirty="0">
                <a:solidFill>
                  <a:srgbClr val="4A4A4A"/>
                </a:solidFill>
              </a:rPr>
              <a:t>sustainable farming practices, and climate-smart agriculture.</a:t>
            </a:r>
            <a:endParaRPr lang="en-US" sz="734" dirty="0"/>
          </a:p>
        </p:txBody>
      </p:sp>
      <p:sp>
        <p:nvSpPr>
          <p:cNvPr id="30" name="Shape 26"/>
          <p:cNvSpPr/>
          <p:nvPr/>
        </p:nvSpPr>
        <p:spPr>
          <a:xfrm rot="2700000">
            <a:off x="700088" y="5236369"/>
            <a:ext cx="71438" cy="71438"/>
          </a:xfrm>
          <a:prstGeom prst="rect">
            <a:avLst/>
          </a:prstGeom>
          <a:solidFill>
            <a:srgbClr val="C1502E"/>
          </a:solidFill>
          <a:ln/>
        </p:spPr>
      </p:sp>
      <p:sp>
        <p:nvSpPr>
          <p:cNvPr id="31" name="Text 27"/>
          <p:cNvSpPr/>
          <p:nvPr/>
        </p:nvSpPr>
        <p:spPr>
          <a:xfrm>
            <a:off x="700088" y="5179219"/>
            <a:ext cx="7743825"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2D5016"/>
                </a:solidFill>
              </a:rPr>
              <a:t>Risk Management:</a:t>
            </a:r>
            <a:pPr algn="l" indent="0" marL="0">
              <a:lnSpc>
                <a:spcPts val="1400"/>
              </a:lnSpc>
              <a:buNone/>
            </a:pPr>
            <a:r>
              <a:rPr lang="en-US" sz="780" dirty="0">
                <a:solidFill>
                  <a:srgbClr val="4A4A4A"/>
                </a:solidFill>
              </a:rPr>
              <a:t> Develop crop insurance schemes and early warning systems tailored to the specific crops and climate risks in these priority </a:t>
            </a:r>
            <a:pPr algn="l" indent="0" marL="0">
              <a:lnSpc>
                <a:spcPts val="1400"/>
              </a:lnSpc>
              <a:buNone/>
            </a:pPr>
            <a:r>
              <a:rPr lang="en-US" sz="780" dirty="0">
                <a:solidFill>
                  <a:srgbClr val="4A4A4A"/>
                </a:solidFill>
              </a:rPr>
              <a:t>counties to protect farmer livelihoods.</a:t>
            </a:r>
            <a:endParaRPr lang="en-US" sz="7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015010"/>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algn="ctr" indent="0" marL="0">
              <a:lnSpc>
                <a:spcPts val="3500"/>
              </a:lnSpc>
              <a:buNone/>
            </a:pPr>
            <a:r>
              <a:rPr lang="en-US" sz="2121" b="1" dirty="0">
                <a:solidFill>
                  <a:srgbClr val="2D5016"/>
                </a:solidFill>
              </a:rPr>
              <a:t>Agricultural Sub-Sectors Comparison</a:t>
            </a:r>
            <a:endParaRPr lang="en-US" sz="2121" dirty="0"/>
          </a:p>
        </p:txBody>
      </p:sp>
      <p:pic>
        <p:nvPicPr>
          <p:cNvPr id="4" name="Image 1" descr="preencoded.png">    </p:cNvPr>
          <p:cNvPicPr>
            <a:picLocks noChangeAspect="1"/>
          </p:cNvPicPr>
          <p:nvPr/>
        </p:nvPicPr>
        <p:blipFill>
          <a:blip r:embed="rId2"/>
          <a:stretch>
            <a:fillRect/>
          </a:stretch>
        </p:blipFill>
        <p:spPr>
          <a:xfrm>
            <a:off x="500063" y="1092994"/>
            <a:ext cx="4723442" cy="3000375"/>
          </a:xfrm>
          <a:prstGeom prst="rect">
            <a:avLst/>
          </a:prstGeom>
        </p:spPr>
      </p:pic>
      <p:sp>
        <p:nvSpPr>
          <p:cNvPr id="5" name="Shape 1"/>
          <p:cNvSpPr/>
          <p:nvPr/>
        </p:nvSpPr>
        <p:spPr>
          <a:xfrm>
            <a:off x="5509254" y="1092994"/>
            <a:ext cx="3420405" cy="3000375"/>
          </a:xfrm>
          <a:prstGeom prst="rect">
            <a:avLst/>
          </a:prstGeom>
          <a:solidFill>
            <a:srgbClr val="C1502E">
              <a:alpha val="8000"/>
            </a:srgbClr>
          </a:solidFill>
          <a:ln/>
        </p:spPr>
      </p:sp>
      <p:sp>
        <p:nvSpPr>
          <p:cNvPr id="6" name="Shape 2"/>
          <p:cNvSpPr/>
          <p:nvPr/>
        </p:nvSpPr>
        <p:spPr>
          <a:xfrm>
            <a:off x="5509254" y="1092994"/>
            <a:ext cx="35719" cy="3000375"/>
          </a:xfrm>
          <a:prstGeom prst="rect">
            <a:avLst/>
          </a:prstGeom>
          <a:solidFill>
            <a:srgbClr val="7A9B57"/>
          </a:solidFill>
          <a:ln/>
        </p:spPr>
      </p:sp>
      <p:sp>
        <p:nvSpPr>
          <p:cNvPr id="7" name="Text 3"/>
          <p:cNvSpPr/>
          <p:nvPr/>
        </p:nvSpPr>
        <p:spPr>
          <a:xfrm>
            <a:off x="5723567" y="1539478"/>
            <a:ext cx="2991780" cy="235744"/>
          </a:xfrm>
          <a:prstGeom prst="rect">
            <a:avLst/>
          </a:prstGeom>
          <a:noFill/>
          <a:ln/>
        </p:spPr>
        <p:txBody>
          <a:bodyPr wrap="none" lIns="0" tIns="0" rIns="0" bIns="0" rtlCol="0" anchor="t">
            <a:spAutoFit/>
          </a:bodyPr>
          <a:lstStyle/>
          <a:p>
            <a:pPr algn="l" indent="0" marL="0">
              <a:lnSpc>
                <a:spcPts val="1900"/>
              </a:lnSpc>
              <a:buNone/>
            </a:pPr>
            <a:r>
              <a:rPr lang="en-US" sz="1090" b="1" dirty="0">
                <a:solidFill>
                  <a:srgbClr val="2D5016"/>
                </a:solidFill>
              </a:rPr>
              <a:t>Total Households by Sub-Sector</a:t>
            </a:r>
            <a:endParaRPr lang="en-US" sz="1090" dirty="0"/>
          </a:p>
        </p:txBody>
      </p:sp>
      <p:sp>
        <p:nvSpPr>
          <p:cNvPr id="8" name="Shape 4"/>
          <p:cNvSpPr/>
          <p:nvPr/>
        </p:nvSpPr>
        <p:spPr>
          <a:xfrm>
            <a:off x="5723567" y="1953816"/>
            <a:ext cx="2991780" cy="328613"/>
          </a:xfrm>
          <a:prstGeom prst="rect">
            <a:avLst/>
          </a:prstGeom>
          <a:solidFill>
            <a:srgbClr val="000000">
              <a:alpha val="0"/>
            </a:srgbClr>
          </a:solidFill>
          <a:ln/>
        </p:spPr>
      </p:sp>
      <p:sp>
        <p:nvSpPr>
          <p:cNvPr id="9" name="Shape 5"/>
          <p:cNvSpPr/>
          <p:nvPr/>
        </p:nvSpPr>
        <p:spPr>
          <a:xfrm>
            <a:off x="5723567" y="2275284"/>
            <a:ext cx="2991780" cy="7144"/>
          </a:xfrm>
          <a:prstGeom prst="rect">
            <a:avLst/>
          </a:prstGeom>
          <a:solidFill>
            <a:srgbClr val="E0E5DC"/>
          </a:solidFill>
          <a:ln/>
        </p:spPr>
      </p:sp>
      <p:sp>
        <p:nvSpPr>
          <p:cNvPr id="10" name="Text 6"/>
          <p:cNvSpPr/>
          <p:nvPr/>
        </p:nvSpPr>
        <p:spPr>
          <a:xfrm>
            <a:off x="5852154" y="1978819"/>
            <a:ext cx="923888"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4A4A4A"/>
                </a:solidFill>
              </a:rPr>
              <a:t>Crop Production</a:t>
            </a:r>
            <a:endParaRPr lang="en-US" sz="784" dirty="0"/>
          </a:p>
        </p:txBody>
      </p:sp>
      <p:sp>
        <p:nvSpPr>
          <p:cNvPr id="11" name="Text 7"/>
          <p:cNvSpPr/>
          <p:nvPr/>
        </p:nvSpPr>
        <p:spPr>
          <a:xfrm>
            <a:off x="8294703" y="1957388"/>
            <a:ext cx="420644"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C1502E"/>
                </a:solidFill>
              </a:rPr>
              <a:t>5.56M</a:t>
            </a:r>
            <a:endParaRPr lang="en-US" sz="987" dirty="0"/>
          </a:p>
        </p:txBody>
      </p:sp>
      <p:sp>
        <p:nvSpPr>
          <p:cNvPr id="12" name="Shape 8"/>
          <p:cNvSpPr/>
          <p:nvPr/>
        </p:nvSpPr>
        <p:spPr>
          <a:xfrm>
            <a:off x="5723567" y="2407444"/>
            <a:ext cx="2991780" cy="328613"/>
          </a:xfrm>
          <a:prstGeom prst="rect">
            <a:avLst/>
          </a:prstGeom>
          <a:solidFill>
            <a:srgbClr val="000000">
              <a:alpha val="0"/>
            </a:srgbClr>
          </a:solidFill>
          <a:ln/>
        </p:spPr>
      </p:sp>
      <p:sp>
        <p:nvSpPr>
          <p:cNvPr id="13" name="Shape 9"/>
          <p:cNvSpPr/>
          <p:nvPr/>
        </p:nvSpPr>
        <p:spPr>
          <a:xfrm>
            <a:off x="5723567" y="2728913"/>
            <a:ext cx="2991780" cy="7144"/>
          </a:xfrm>
          <a:prstGeom prst="rect">
            <a:avLst/>
          </a:prstGeom>
          <a:solidFill>
            <a:srgbClr val="E0E5DC"/>
          </a:solidFill>
          <a:ln/>
        </p:spPr>
      </p:sp>
      <p:sp>
        <p:nvSpPr>
          <p:cNvPr id="14" name="Text 10"/>
          <p:cNvSpPr/>
          <p:nvPr/>
        </p:nvSpPr>
        <p:spPr>
          <a:xfrm>
            <a:off x="5852154" y="2432447"/>
            <a:ext cx="1197192"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4A4A4A"/>
                </a:solidFill>
              </a:rPr>
              <a:t>Livestock Production</a:t>
            </a:r>
            <a:endParaRPr lang="en-US" sz="784" dirty="0"/>
          </a:p>
        </p:txBody>
      </p:sp>
      <p:sp>
        <p:nvSpPr>
          <p:cNvPr id="15" name="Text 11"/>
          <p:cNvSpPr/>
          <p:nvPr/>
        </p:nvSpPr>
        <p:spPr>
          <a:xfrm>
            <a:off x="8294703" y="2411016"/>
            <a:ext cx="420644"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C1502E"/>
                </a:solidFill>
              </a:rPr>
              <a:t>4.73M</a:t>
            </a:r>
            <a:endParaRPr lang="en-US" sz="987" dirty="0"/>
          </a:p>
        </p:txBody>
      </p:sp>
      <p:sp>
        <p:nvSpPr>
          <p:cNvPr id="16" name="Shape 12"/>
          <p:cNvSpPr/>
          <p:nvPr/>
        </p:nvSpPr>
        <p:spPr>
          <a:xfrm>
            <a:off x="5723567" y="2861072"/>
            <a:ext cx="2991780" cy="328613"/>
          </a:xfrm>
          <a:prstGeom prst="rect">
            <a:avLst/>
          </a:prstGeom>
          <a:solidFill>
            <a:srgbClr val="000000">
              <a:alpha val="0"/>
            </a:srgbClr>
          </a:solidFill>
          <a:ln/>
        </p:spPr>
      </p:sp>
      <p:sp>
        <p:nvSpPr>
          <p:cNvPr id="17" name="Shape 13"/>
          <p:cNvSpPr/>
          <p:nvPr/>
        </p:nvSpPr>
        <p:spPr>
          <a:xfrm>
            <a:off x="5723567" y="3182541"/>
            <a:ext cx="2991780" cy="7144"/>
          </a:xfrm>
          <a:prstGeom prst="rect">
            <a:avLst/>
          </a:prstGeom>
          <a:solidFill>
            <a:srgbClr val="E0E5DC"/>
          </a:solidFill>
          <a:ln/>
        </p:spPr>
      </p:sp>
      <p:sp>
        <p:nvSpPr>
          <p:cNvPr id="18" name="Text 14"/>
          <p:cNvSpPr/>
          <p:nvPr/>
        </p:nvSpPr>
        <p:spPr>
          <a:xfrm>
            <a:off x="5852154" y="2886075"/>
            <a:ext cx="705920"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4A4A4A"/>
                </a:solidFill>
              </a:rPr>
              <a:t>Aquaculture</a:t>
            </a:r>
            <a:endParaRPr lang="en-US" sz="784" dirty="0"/>
          </a:p>
        </p:txBody>
      </p:sp>
      <p:sp>
        <p:nvSpPr>
          <p:cNvPr id="19" name="Text 15"/>
          <p:cNvSpPr/>
          <p:nvPr/>
        </p:nvSpPr>
        <p:spPr>
          <a:xfrm>
            <a:off x="8334580" y="2864644"/>
            <a:ext cx="380767"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C1502E"/>
                </a:solidFill>
              </a:rPr>
              <a:t>29.3K</a:t>
            </a:r>
            <a:endParaRPr lang="en-US" sz="987" dirty="0"/>
          </a:p>
        </p:txBody>
      </p:sp>
      <p:sp>
        <p:nvSpPr>
          <p:cNvPr id="20" name="Text 16"/>
          <p:cNvSpPr/>
          <p:nvPr/>
        </p:nvSpPr>
        <p:spPr>
          <a:xfrm>
            <a:off x="5852154" y="3336131"/>
            <a:ext cx="411826"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4A4A4A"/>
                </a:solidFill>
              </a:rPr>
              <a:t>Fishing</a:t>
            </a:r>
            <a:endParaRPr lang="en-US" sz="784" dirty="0"/>
          </a:p>
        </p:txBody>
      </p:sp>
      <p:sp>
        <p:nvSpPr>
          <p:cNvPr id="21" name="Text 17"/>
          <p:cNvSpPr/>
          <p:nvPr/>
        </p:nvSpPr>
        <p:spPr>
          <a:xfrm>
            <a:off x="8252845" y="3314700"/>
            <a:ext cx="462502" cy="214313"/>
          </a:xfrm>
          <a:prstGeom prst="rect">
            <a:avLst/>
          </a:prstGeom>
          <a:noFill/>
          <a:ln/>
        </p:spPr>
        <p:txBody>
          <a:bodyPr wrap="none" lIns="0" tIns="0" rIns="0" bIns="0" rtlCol="0" anchor="t">
            <a:spAutoFit/>
          </a:bodyPr>
          <a:lstStyle/>
          <a:p>
            <a:pPr algn="l" indent="0" marL="0">
              <a:lnSpc>
                <a:spcPts val="1700"/>
              </a:lnSpc>
              <a:buNone/>
            </a:pPr>
            <a:r>
              <a:rPr lang="en-US" sz="987" b="1" dirty="0">
                <a:solidFill>
                  <a:srgbClr val="C1502E"/>
                </a:solidFill>
              </a:rPr>
              <a:t>109.6K</a:t>
            </a:r>
            <a:endParaRPr lang="en-US" sz="987" dirty="0"/>
          </a:p>
        </p:txBody>
      </p:sp>
      <p:sp>
        <p:nvSpPr>
          <p:cNvPr id="22" name="Shape 18"/>
          <p:cNvSpPr/>
          <p:nvPr/>
        </p:nvSpPr>
        <p:spPr>
          <a:xfrm>
            <a:off x="500063" y="4307681"/>
            <a:ext cx="8143875" cy="1350141"/>
          </a:xfrm>
          <a:prstGeom prst="rect">
            <a:avLst/>
          </a:prstGeom>
          <a:solidFill>
            <a:srgbClr val="2D5016">
              <a:alpha val="6000"/>
            </a:srgbClr>
          </a:solidFill>
          <a:ln/>
        </p:spPr>
      </p:sp>
      <p:sp>
        <p:nvSpPr>
          <p:cNvPr id="23" name="Shape 19"/>
          <p:cNvSpPr/>
          <p:nvPr/>
        </p:nvSpPr>
        <p:spPr>
          <a:xfrm>
            <a:off x="500063" y="4307681"/>
            <a:ext cx="8143875" cy="21431"/>
          </a:xfrm>
          <a:prstGeom prst="rect">
            <a:avLst/>
          </a:prstGeom>
          <a:solidFill>
            <a:srgbClr val="2D5016"/>
          </a:solidFill>
          <a:ln/>
        </p:spPr>
      </p:sp>
      <p:sp>
        <p:nvSpPr>
          <p:cNvPr id="24" name="Text 20"/>
          <p:cNvSpPr/>
          <p:nvPr/>
        </p:nvSpPr>
        <p:spPr>
          <a:xfrm>
            <a:off x="500063" y="4307681"/>
            <a:ext cx="8143875" cy="1350141"/>
          </a:xfrm>
          <a:prstGeom prst="rect">
            <a:avLst/>
          </a:prstGeom>
          <a:noFill/>
          <a:ln/>
        </p:spPr>
        <p:txBody>
          <a:bodyPr wrap="square" lIns="297688" tIns="212598" rIns="297688" bIns="212598" rtlCol="0" anchor="t">
            <a:spAutoFit/>
          </a:bodyPr>
          <a:lstStyle/>
          <a:p>
            <a:pPr algn="l" indent="0" marL="0">
              <a:lnSpc>
                <a:spcPts val="1500"/>
              </a:lnSpc>
              <a:buNone/>
            </a:pPr>
            <a:r>
              <a:rPr lang="en-US" sz="784" b="1" dirty="0">
                <a:solidFill>
                  <a:srgbClr val="2D5016"/>
                </a:solidFill>
              </a:rPr>
              <a:t>Interpretation:</a:t>
            </a:r>
            <a:pPr algn="l" indent="0" marL="0">
              <a:lnSpc>
                <a:spcPts val="1500"/>
              </a:lnSpc>
              <a:buNone/>
            </a:pPr>
            <a:r>
              <a:rPr lang="en-US" sz="834" dirty="0">
                <a:solidFill>
                  <a:srgbClr val="4A4A4A"/>
                </a:solidFill>
              </a:rPr>
              <a:t> Crop production is the dominant agricultural sub-sector, accounting for over half of all agricultural households, followed by </a:t>
            </a:r>
            <a:pPr algn="l" indent="0" marL="0">
              <a:lnSpc>
                <a:spcPts val="1500"/>
              </a:lnSpc>
              <a:buNone/>
            </a:pPr>
            <a:r>
              <a:rPr lang="en-US" sz="834" dirty="0">
                <a:solidFill>
                  <a:srgbClr val="4A4A4A"/>
                </a:solidFill>
              </a:rPr>
              <a:t>livestock production. The top counties in crop production are geographically diverse, indicating widespread engagement across different </a:t>
            </a:r>
            <a:pPr algn="l" indent="0" marL="0">
              <a:lnSpc>
                <a:spcPts val="1500"/>
              </a:lnSpc>
              <a:buNone/>
            </a:pPr>
            <a:r>
              <a:rPr lang="en-US" sz="834" dirty="0">
                <a:solidFill>
                  <a:srgbClr val="4A4A4A"/>
                </a:solidFill>
              </a:rPr>
              <a:t>regions. Aquaculture and fishing represent smaller but important niche sectors, particularly in coastal and lake regions. This distribution </a:t>
            </a:r>
            <a:pPr algn="l" indent="0" marL="0">
              <a:lnSpc>
                <a:spcPts val="1500"/>
              </a:lnSpc>
              <a:buNone/>
            </a:pPr>
            <a:r>
              <a:rPr lang="en-US" sz="834" dirty="0">
                <a:solidFill>
                  <a:srgbClr val="4A4A4A"/>
                </a:solidFill>
              </a:rPr>
              <a:t>provides a strong foundation for targeted interventions in the crop sub-sector while recognizing the need for integrated approaches that </a:t>
            </a:r>
            <a:pPr algn="l" indent="0" marL="0">
              <a:lnSpc>
                <a:spcPts val="1500"/>
              </a:lnSpc>
              <a:buNone/>
            </a:pPr>
            <a:r>
              <a:rPr lang="en-US" sz="834" dirty="0">
                <a:solidFill>
                  <a:srgbClr val="4A4A4A"/>
                </a:solidFill>
              </a:rPr>
              <a:t>support livestock and aquatic farming.</a:t>
            </a:r>
            <a:endParaRPr lang="en-US" sz="784"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100707"/>
          </a:xfrm>
          <a:prstGeom prst="rect">
            <a:avLst/>
          </a:prstGeom>
        </p:spPr>
      </p:pic>
      <p:sp>
        <p:nvSpPr>
          <p:cNvPr id="3" name="Text 0"/>
          <p:cNvSpPr/>
          <p:nvPr/>
        </p:nvSpPr>
        <p:spPr>
          <a:xfrm>
            <a:off x="571500" y="428625"/>
            <a:ext cx="8001000" cy="450056"/>
          </a:xfrm>
          <a:prstGeom prst="rect">
            <a:avLst/>
          </a:prstGeom>
          <a:noFill/>
          <a:ln/>
        </p:spPr>
        <p:txBody>
          <a:bodyPr wrap="none" lIns="0" tIns="0" rIns="0" bIns="0" rtlCol="0" anchor="t">
            <a:spAutoFit/>
          </a:bodyPr>
          <a:lstStyle/>
          <a:p>
            <a:pPr algn="ctr" indent="0" marL="0">
              <a:lnSpc>
                <a:spcPts val="3500"/>
              </a:lnSpc>
              <a:buNone/>
            </a:pPr>
            <a:r>
              <a:rPr lang="en-US" sz="2121" b="1" dirty="0">
                <a:solidFill>
                  <a:srgbClr val="2D5016"/>
                </a:solidFill>
              </a:rPr>
              <a:t>Primary Agricultural Sector Classification</a:t>
            </a:r>
            <a:endParaRPr lang="en-US" sz="2121" dirty="0"/>
          </a:p>
        </p:txBody>
      </p:sp>
      <p:pic>
        <p:nvPicPr>
          <p:cNvPr id="4" name="Image 1" descr="preencoded.png">    </p:cNvPr>
          <p:cNvPicPr>
            <a:picLocks noChangeAspect="1"/>
          </p:cNvPicPr>
          <p:nvPr/>
        </p:nvPicPr>
        <p:blipFill>
          <a:blip r:embed="rId2"/>
          <a:stretch>
            <a:fillRect/>
          </a:stretch>
        </p:blipFill>
        <p:spPr>
          <a:xfrm>
            <a:off x="571500" y="1232297"/>
            <a:ext cx="192881" cy="171450"/>
          </a:xfrm>
          <a:prstGeom prst="rect">
            <a:avLst/>
          </a:prstGeom>
        </p:spPr>
      </p:pic>
      <p:sp>
        <p:nvSpPr>
          <p:cNvPr id="5" name="Text 1"/>
          <p:cNvSpPr/>
          <p:nvPr/>
        </p:nvSpPr>
        <p:spPr>
          <a:xfrm>
            <a:off x="835819" y="1200150"/>
            <a:ext cx="1678195" cy="235744"/>
          </a:xfrm>
          <a:prstGeom prst="rect">
            <a:avLst/>
          </a:prstGeom>
          <a:noFill/>
          <a:ln/>
        </p:spPr>
        <p:txBody>
          <a:bodyPr wrap="none" lIns="0" tIns="0" rIns="0" bIns="0" rtlCol="0" anchor="t">
            <a:spAutoFit/>
          </a:bodyPr>
          <a:lstStyle/>
          <a:p>
            <a:pPr algn="l" indent="0" marL="0">
              <a:lnSpc>
                <a:spcPts val="1900"/>
              </a:lnSpc>
              <a:buNone/>
            </a:pPr>
            <a:r>
              <a:rPr lang="en-US" sz="1090" b="1" dirty="0">
                <a:solidFill>
                  <a:srgbClr val="C1502E"/>
                </a:solidFill>
              </a:rPr>
              <a:t>Transformation Logic</a:t>
            </a:r>
            <a:endParaRPr lang="en-US" sz="1090" dirty="0"/>
          </a:p>
        </p:txBody>
      </p:sp>
      <p:sp>
        <p:nvSpPr>
          <p:cNvPr id="6" name="Shape 2"/>
          <p:cNvSpPr/>
          <p:nvPr/>
        </p:nvSpPr>
        <p:spPr>
          <a:xfrm rot="2700000">
            <a:off x="571500" y="1671638"/>
            <a:ext cx="57150" cy="57150"/>
          </a:xfrm>
          <a:prstGeom prst="rect">
            <a:avLst/>
          </a:prstGeom>
          <a:solidFill>
            <a:srgbClr val="7A9B57"/>
          </a:solidFill>
          <a:ln/>
        </p:spPr>
      </p:sp>
      <p:sp>
        <p:nvSpPr>
          <p:cNvPr id="7" name="Text 3"/>
          <p:cNvSpPr/>
          <p:nvPr/>
        </p:nvSpPr>
        <p:spPr>
          <a:xfrm>
            <a:off x="571500" y="1614488"/>
            <a:ext cx="3600450"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4A4A4A"/>
                </a:solidFill>
              </a:rPr>
              <a:t>Step 1:</a:t>
            </a:r>
            <a:pPr algn="l" indent="0" marL="0">
              <a:lnSpc>
                <a:spcPts val="1400"/>
              </a:lnSpc>
              <a:buNone/>
            </a:pPr>
            <a:r>
              <a:rPr lang="en-US" sz="780" dirty="0">
                <a:solidFill>
                  <a:srgbClr val="4A4A4A"/>
                </a:solidFill>
              </a:rPr>
              <a:t> Compare four main sub-sectors (Crop, Livestock, </a:t>
            </a:r>
            <a:pPr algn="l" indent="0" marL="0">
              <a:lnSpc>
                <a:spcPts val="1400"/>
              </a:lnSpc>
              <a:buNone/>
            </a:pPr>
            <a:r>
              <a:rPr lang="en-US" sz="780" dirty="0">
                <a:solidFill>
                  <a:srgbClr val="4A4A4A"/>
                </a:solidFill>
              </a:rPr>
              <a:t>Aquaculture, Fishing) by household count for each county</a:t>
            </a:r>
            <a:endParaRPr lang="en-US" sz="734" dirty="0"/>
          </a:p>
        </p:txBody>
      </p:sp>
      <p:sp>
        <p:nvSpPr>
          <p:cNvPr id="8" name="Shape 4"/>
          <p:cNvSpPr/>
          <p:nvPr/>
        </p:nvSpPr>
        <p:spPr>
          <a:xfrm rot="2700000">
            <a:off x="571500" y="2143125"/>
            <a:ext cx="57150" cy="57150"/>
          </a:xfrm>
          <a:prstGeom prst="rect">
            <a:avLst/>
          </a:prstGeom>
          <a:solidFill>
            <a:srgbClr val="7A9B57"/>
          </a:solidFill>
          <a:ln/>
        </p:spPr>
      </p:sp>
      <p:sp>
        <p:nvSpPr>
          <p:cNvPr id="9" name="Text 5"/>
          <p:cNvSpPr/>
          <p:nvPr/>
        </p:nvSpPr>
        <p:spPr>
          <a:xfrm>
            <a:off x="571500" y="2085975"/>
            <a:ext cx="3600450"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4A4A4A"/>
                </a:solidFill>
              </a:rPr>
              <a:t>Step 2:</a:t>
            </a:r>
            <a:pPr algn="l" indent="0" marL="0">
              <a:lnSpc>
                <a:spcPts val="1400"/>
              </a:lnSpc>
              <a:buNone/>
            </a:pPr>
            <a:r>
              <a:rPr lang="en-US" sz="780" dirty="0">
                <a:solidFill>
                  <a:srgbClr val="4A4A4A"/>
                </a:solidFill>
              </a:rPr>
              <a:t> Identify the dominant sector with the highest number of </a:t>
            </a:r>
            <a:pPr algn="l" indent="0" marL="0">
              <a:lnSpc>
                <a:spcPts val="1400"/>
              </a:lnSpc>
              <a:buNone/>
            </a:pPr>
            <a:r>
              <a:rPr lang="en-US" sz="780" dirty="0">
                <a:solidFill>
                  <a:srgbClr val="4A4A4A"/>
                </a:solidFill>
              </a:rPr>
              <a:t>engaged households</a:t>
            </a:r>
            <a:endParaRPr lang="en-US" sz="734" dirty="0"/>
          </a:p>
        </p:txBody>
      </p:sp>
      <p:sp>
        <p:nvSpPr>
          <p:cNvPr id="10" name="Shape 6"/>
          <p:cNvSpPr/>
          <p:nvPr/>
        </p:nvSpPr>
        <p:spPr>
          <a:xfrm rot="2700000">
            <a:off x="571500" y="2614613"/>
            <a:ext cx="57150" cy="57150"/>
          </a:xfrm>
          <a:prstGeom prst="rect">
            <a:avLst/>
          </a:prstGeom>
          <a:solidFill>
            <a:srgbClr val="7A9B57"/>
          </a:solidFill>
          <a:ln/>
        </p:spPr>
      </p:sp>
      <p:sp>
        <p:nvSpPr>
          <p:cNvPr id="11" name="Text 7"/>
          <p:cNvSpPr/>
          <p:nvPr/>
        </p:nvSpPr>
        <p:spPr>
          <a:xfrm>
            <a:off x="571500" y="2557463"/>
            <a:ext cx="3600450"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4A4A4A"/>
                </a:solidFill>
              </a:rPr>
              <a:t>Step 3:</a:t>
            </a:r>
            <a:pPr algn="l" indent="0" marL="0">
              <a:lnSpc>
                <a:spcPts val="1400"/>
              </a:lnSpc>
              <a:buNone/>
            </a:pPr>
            <a:r>
              <a:rPr lang="en-US" sz="780" dirty="0">
                <a:solidFill>
                  <a:srgbClr val="4A4A4A"/>
                </a:solidFill>
              </a:rPr>
              <a:t> Apply threshold criterion—dominant sector must have </a:t>
            </a:r>
            <a:pPr algn="l" indent="0" marL="0">
              <a:lnSpc>
                <a:spcPts val="1400"/>
              </a:lnSpc>
              <a:buNone/>
            </a:pPr>
            <a:r>
              <a:rPr lang="en-US" sz="780" dirty="0">
                <a:solidFill>
                  <a:srgbClr val="4A4A4A"/>
                </a:solidFill>
              </a:rPr>
              <a:t>≥50% more households than the second-largest sector</a:t>
            </a:r>
            <a:endParaRPr lang="en-US" sz="734" dirty="0"/>
          </a:p>
        </p:txBody>
      </p:sp>
      <p:sp>
        <p:nvSpPr>
          <p:cNvPr id="12" name="Shape 8"/>
          <p:cNvSpPr/>
          <p:nvPr/>
        </p:nvSpPr>
        <p:spPr>
          <a:xfrm rot="2700000">
            <a:off x="571500" y="3086100"/>
            <a:ext cx="57150" cy="57150"/>
          </a:xfrm>
          <a:prstGeom prst="rect">
            <a:avLst/>
          </a:prstGeom>
          <a:solidFill>
            <a:srgbClr val="7A9B57"/>
          </a:solidFill>
          <a:ln/>
        </p:spPr>
      </p:sp>
      <p:sp>
        <p:nvSpPr>
          <p:cNvPr id="13" name="Text 9"/>
          <p:cNvSpPr/>
          <p:nvPr/>
        </p:nvSpPr>
        <p:spPr>
          <a:xfrm>
            <a:off x="571500" y="3028950"/>
            <a:ext cx="3600450"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4A4A4A"/>
                </a:solidFill>
              </a:rPr>
              <a:t>Step 4:</a:t>
            </a:r>
            <a:pPr algn="l" indent="0" marL="0">
              <a:lnSpc>
                <a:spcPts val="1400"/>
              </a:lnSpc>
              <a:buNone/>
            </a:pPr>
            <a:r>
              <a:rPr lang="en-US" sz="780" dirty="0">
                <a:solidFill>
                  <a:srgbClr val="4A4A4A"/>
                </a:solidFill>
              </a:rPr>
              <a:t> If threshold not met, classify as 'Mixed Agriculture' </a:t>
            </a:r>
            <a:pPr algn="l" indent="0" marL="0">
              <a:lnSpc>
                <a:spcPts val="1400"/>
              </a:lnSpc>
              <a:buNone/>
            </a:pPr>
            <a:r>
              <a:rPr lang="en-US" sz="780" dirty="0">
                <a:solidFill>
                  <a:srgbClr val="4A4A4A"/>
                </a:solidFill>
              </a:rPr>
              <a:t>indicating diversified agricultural economy</a:t>
            </a:r>
            <a:endParaRPr lang="en-US" sz="734" dirty="0"/>
          </a:p>
        </p:txBody>
      </p:sp>
      <p:sp>
        <p:nvSpPr>
          <p:cNvPr id="14" name="Shape 10"/>
          <p:cNvSpPr/>
          <p:nvPr/>
        </p:nvSpPr>
        <p:spPr>
          <a:xfrm rot="2700000">
            <a:off x="571500" y="3557588"/>
            <a:ext cx="57150" cy="57150"/>
          </a:xfrm>
          <a:prstGeom prst="rect">
            <a:avLst/>
          </a:prstGeom>
          <a:solidFill>
            <a:srgbClr val="7A9B57"/>
          </a:solidFill>
          <a:ln/>
        </p:spPr>
      </p:sp>
      <p:sp>
        <p:nvSpPr>
          <p:cNvPr id="15" name="Text 11"/>
          <p:cNvSpPr/>
          <p:nvPr/>
        </p:nvSpPr>
        <p:spPr>
          <a:xfrm>
            <a:off x="571500" y="3500438"/>
            <a:ext cx="3600450" cy="342900"/>
          </a:xfrm>
          <a:prstGeom prst="rect">
            <a:avLst/>
          </a:prstGeom>
          <a:noFill/>
          <a:ln/>
        </p:spPr>
        <p:txBody>
          <a:bodyPr wrap="square" lIns="255143" tIns="0" rIns="0" bIns="0" rtlCol="0" anchor="t">
            <a:spAutoFit/>
          </a:bodyPr>
          <a:lstStyle/>
          <a:p>
            <a:pPr algn="l" indent="0" marL="0">
              <a:lnSpc>
                <a:spcPts val="1400"/>
              </a:lnSpc>
              <a:buNone/>
            </a:pPr>
            <a:r>
              <a:rPr lang="en-US" sz="734" b="1" dirty="0">
                <a:solidFill>
                  <a:srgbClr val="4A4A4A"/>
                </a:solidFill>
              </a:rPr>
              <a:t>Step 5:</a:t>
            </a:r>
            <a:pPr algn="l" indent="0" marL="0">
              <a:lnSpc>
                <a:spcPts val="1400"/>
              </a:lnSpc>
              <a:buNone/>
            </a:pPr>
            <a:r>
              <a:rPr lang="en-US" sz="780" dirty="0">
                <a:solidFill>
                  <a:srgbClr val="4A4A4A"/>
                </a:solidFill>
              </a:rPr>
              <a:t> Special case—if Crop and Livestock sectors are within 20% </a:t>
            </a:r>
            <a:pPr algn="l" indent="0" marL="0">
              <a:lnSpc>
                <a:spcPts val="1400"/>
              </a:lnSpc>
              <a:buNone/>
            </a:pPr>
            <a:r>
              <a:rPr lang="en-US" sz="780" dirty="0">
                <a:solidFill>
                  <a:srgbClr val="4A4A4A"/>
                </a:solidFill>
              </a:rPr>
              <a:t>of each other, classify as 'Crop-Livestock Mixed'</a:t>
            </a:r>
            <a:endParaRPr lang="en-US" sz="734" dirty="0"/>
          </a:p>
        </p:txBody>
      </p:sp>
      <p:pic>
        <p:nvPicPr>
          <p:cNvPr id="16" name="Image 2" descr="preencoded.png">    </p:cNvPr>
          <p:cNvPicPr>
            <a:picLocks noChangeAspect="1"/>
          </p:cNvPicPr>
          <p:nvPr/>
        </p:nvPicPr>
        <p:blipFill>
          <a:blip r:embed="rId3"/>
          <a:stretch>
            <a:fillRect/>
          </a:stretch>
        </p:blipFill>
        <p:spPr>
          <a:xfrm>
            <a:off x="4529138" y="1232297"/>
            <a:ext cx="171450" cy="171450"/>
          </a:xfrm>
          <a:prstGeom prst="rect">
            <a:avLst/>
          </a:prstGeom>
        </p:spPr>
      </p:pic>
      <p:sp>
        <p:nvSpPr>
          <p:cNvPr id="17" name="Text 12"/>
          <p:cNvSpPr/>
          <p:nvPr/>
        </p:nvSpPr>
        <p:spPr>
          <a:xfrm>
            <a:off x="4772025" y="1200150"/>
            <a:ext cx="1880146" cy="235744"/>
          </a:xfrm>
          <a:prstGeom prst="rect">
            <a:avLst/>
          </a:prstGeom>
          <a:noFill/>
          <a:ln/>
        </p:spPr>
        <p:txBody>
          <a:bodyPr wrap="none" lIns="0" tIns="0" rIns="0" bIns="0" rtlCol="0" anchor="t">
            <a:spAutoFit/>
          </a:bodyPr>
          <a:lstStyle/>
          <a:p>
            <a:pPr algn="l" indent="0" marL="0">
              <a:lnSpc>
                <a:spcPts val="1900"/>
              </a:lnSpc>
              <a:buNone/>
            </a:pPr>
            <a:r>
              <a:rPr lang="en-US" sz="1090" b="1" dirty="0">
                <a:solidFill>
                  <a:srgbClr val="C1502E"/>
                </a:solidFill>
              </a:rPr>
              <a:t>Distribution of Counties</a:t>
            </a:r>
            <a:endParaRPr lang="en-US" sz="1090" dirty="0"/>
          </a:p>
        </p:txBody>
      </p:sp>
      <p:pic>
        <p:nvPicPr>
          <p:cNvPr id="18" name="Image 3" descr="preencoded.png">    </p:cNvPr>
          <p:cNvPicPr>
            <a:picLocks noChangeAspect="1"/>
          </p:cNvPicPr>
          <p:nvPr/>
        </p:nvPicPr>
        <p:blipFill>
          <a:blip r:embed="rId4"/>
          <a:stretch>
            <a:fillRect/>
          </a:stretch>
        </p:blipFill>
        <p:spPr>
          <a:xfrm>
            <a:off x="4529138" y="1614488"/>
            <a:ext cx="4400550" cy="2857500"/>
          </a:xfrm>
          <a:prstGeom prst="rect">
            <a:avLst/>
          </a:prstGeom>
        </p:spPr>
      </p:pic>
      <p:sp>
        <p:nvSpPr>
          <p:cNvPr id="19" name="Shape 13"/>
          <p:cNvSpPr/>
          <p:nvPr/>
        </p:nvSpPr>
        <p:spPr>
          <a:xfrm>
            <a:off x="4529138" y="4614863"/>
            <a:ext cx="4400550" cy="1057219"/>
          </a:xfrm>
          <a:prstGeom prst="rect">
            <a:avLst/>
          </a:prstGeom>
          <a:solidFill>
            <a:srgbClr val="2D5016">
              <a:alpha val="8000"/>
            </a:srgbClr>
          </a:solidFill>
          <a:ln/>
        </p:spPr>
      </p:sp>
      <p:sp>
        <p:nvSpPr>
          <p:cNvPr id="20" name="Shape 14"/>
          <p:cNvSpPr/>
          <p:nvPr/>
        </p:nvSpPr>
        <p:spPr>
          <a:xfrm>
            <a:off x="4529138" y="4614863"/>
            <a:ext cx="28575" cy="1057219"/>
          </a:xfrm>
          <a:prstGeom prst="rect">
            <a:avLst/>
          </a:prstGeom>
          <a:solidFill>
            <a:srgbClr val="2D5016"/>
          </a:solidFill>
          <a:ln/>
        </p:spPr>
      </p:sp>
      <p:sp>
        <p:nvSpPr>
          <p:cNvPr id="21" name="Text 15"/>
          <p:cNvSpPr/>
          <p:nvPr/>
        </p:nvSpPr>
        <p:spPr>
          <a:xfrm>
            <a:off x="4529138" y="4614863"/>
            <a:ext cx="4400550" cy="1057219"/>
          </a:xfrm>
          <a:prstGeom prst="rect">
            <a:avLst/>
          </a:prstGeom>
          <a:noFill/>
          <a:ln/>
        </p:spPr>
        <p:txBody>
          <a:bodyPr wrap="square" lIns="187071" tIns="153035" rIns="187071" bIns="153035" rtlCol="0" anchor="t">
            <a:spAutoFit/>
          </a:bodyPr>
          <a:lstStyle/>
          <a:p>
            <a:pPr algn="l" indent="0" marL="0">
              <a:lnSpc>
                <a:spcPts val="1300"/>
              </a:lnSpc>
              <a:buNone/>
            </a:pPr>
            <a:r>
              <a:rPr lang="en-US" sz="683" b="1" dirty="0">
                <a:solidFill>
                  <a:srgbClr val="2D5016"/>
                </a:solidFill>
              </a:rPr>
              <a:t>Interpretation:</a:t>
            </a:r>
            <a:pPr algn="l" indent="0" marL="0">
              <a:lnSpc>
                <a:spcPts val="1300"/>
              </a:lnSpc>
              <a:buNone/>
            </a:pPr>
            <a:r>
              <a:rPr lang="en-US" sz="727" dirty="0">
                <a:solidFill>
                  <a:srgbClr val="4A4A4A"/>
                </a:solidFill>
              </a:rPr>
              <a:t> The majority of counties (28) exhibit a 'Mixed Agriculture' economy, </a:t>
            </a:r>
            <a:pPr algn="l" indent="0" marL="0">
              <a:lnSpc>
                <a:spcPts val="1300"/>
              </a:lnSpc>
              <a:buNone/>
            </a:pPr>
            <a:r>
              <a:rPr lang="en-US" sz="727" dirty="0">
                <a:solidFill>
                  <a:srgbClr val="4A4A4A"/>
                </a:solidFill>
              </a:rPr>
              <a:t>indicating diversified agricultural bases that reduce risk and enhance resilience. 'Crop-</a:t>
            </a:r>
            <a:pPr algn="l" indent="0" marL="0">
              <a:lnSpc>
                <a:spcPts val="1300"/>
              </a:lnSpc>
              <a:buNone/>
            </a:pPr>
            <a:r>
              <a:rPr lang="en-US" sz="727" dirty="0">
                <a:solidFill>
                  <a:srgbClr val="4A4A4A"/>
                </a:solidFill>
              </a:rPr>
              <a:t>Livestock Mixed' counties (10) demonstrate strong integration between these </a:t>
            </a:r>
            <a:pPr algn="l" indent="0" marL="0">
              <a:lnSpc>
                <a:spcPts val="1300"/>
              </a:lnSpc>
              <a:buNone/>
            </a:pPr>
            <a:r>
              <a:rPr lang="en-US" sz="727" dirty="0">
                <a:solidFill>
                  <a:srgbClr val="4A4A4A"/>
                </a:solidFill>
              </a:rPr>
              <a:t>complementary sub-sectors. This classification enables targeted program design </a:t>
            </a:r>
            <a:pPr algn="l" indent="0" marL="0">
              <a:lnSpc>
                <a:spcPts val="1300"/>
              </a:lnSpc>
              <a:buNone/>
            </a:pPr>
            <a:r>
              <a:rPr lang="en-US" sz="727" dirty="0">
                <a:solidFill>
                  <a:srgbClr val="4A4A4A"/>
                </a:solidFill>
              </a:rPr>
              <a:t>tailored to each county's specific agricultural profile.</a:t>
            </a:r>
            <a:endParaRPr lang="en-US" sz="683"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223602"/>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algn="ctr" indent="0" marL="0">
              <a:lnSpc>
                <a:spcPts val="3500"/>
              </a:lnSpc>
              <a:buNone/>
            </a:pPr>
            <a:r>
              <a:rPr lang="en-US" sz="2121" b="1" dirty="0">
                <a:solidFill>
                  <a:srgbClr val="2D5016"/>
                </a:solidFill>
              </a:rPr>
              <a:t>Policy Metric 1: Crop Yield Potential Intensity</a:t>
            </a:r>
            <a:endParaRPr lang="en-US" sz="2121" dirty="0"/>
          </a:p>
        </p:txBody>
      </p:sp>
      <p:sp>
        <p:nvSpPr>
          <p:cNvPr id="4" name="Shape 1"/>
          <p:cNvSpPr/>
          <p:nvPr/>
        </p:nvSpPr>
        <p:spPr>
          <a:xfrm>
            <a:off x="500063" y="985838"/>
            <a:ext cx="8143875" cy="580039"/>
          </a:xfrm>
          <a:prstGeom prst="rect">
            <a:avLst/>
          </a:prstGeom>
          <a:solidFill>
            <a:srgbClr val="7A9B57">
              <a:alpha val="15000"/>
            </a:srgbClr>
          </a:solidFill>
          <a:ln/>
        </p:spPr>
      </p:sp>
      <p:sp>
        <p:nvSpPr>
          <p:cNvPr id="5" name="Shape 2"/>
          <p:cNvSpPr/>
          <p:nvPr/>
        </p:nvSpPr>
        <p:spPr>
          <a:xfrm>
            <a:off x="500063" y="985838"/>
            <a:ext cx="28575" cy="580039"/>
          </a:xfrm>
          <a:prstGeom prst="rect">
            <a:avLst/>
          </a:prstGeom>
          <a:solidFill>
            <a:srgbClr val="7A9B57"/>
          </a:solidFill>
          <a:ln/>
        </p:spPr>
      </p:sp>
      <p:sp>
        <p:nvSpPr>
          <p:cNvPr id="6" name="Text 3"/>
          <p:cNvSpPr/>
          <p:nvPr/>
        </p:nvSpPr>
        <p:spPr>
          <a:xfrm>
            <a:off x="500063" y="985838"/>
            <a:ext cx="8143875" cy="580039"/>
          </a:xfrm>
          <a:prstGeom prst="rect">
            <a:avLst/>
          </a:prstGeom>
          <a:noFill/>
          <a:ln/>
        </p:spPr>
        <p:txBody>
          <a:bodyPr wrap="square" lIns="255143" tIns="127508" rIns="255143" bIns="127508" rtlCol="0" anchor="t">
            <a:spAutoFit/>
          </a:bodyPr>
          <a:lstStyle/>
          <a:p>
            <a:pPr algn="ctr" indent="0" marL="0">
              <a:lnSpc>
                <a:spcPts val="1400"/>
              </a:lnSpc>
              <a:buNone/>
            </a:pPr>
            <a:r>
              <a:rPr lang="en-US" sz="784" b="1" dirty="0">
                <a:solidFill>
                  <a:srgbClr val="2D5016"/>
                </a:solidFill>
              </a:rPr>
              <a:t>Definition:</a:t>
            </a:r>
            <a:pPr algn="ctr" indent="0" marL="0">
              <a:lnSpc>
                <a:spcPts val="1400"/>
              </a:lnSpc>
              <a:buNone/>
            </a:pPr>
            <a:r>
              <a:rPr lang="en-US" sz="834" dirty="0">
                <a:solidFill>
                  <a:srgbClr val="4A4A4A"/>
                </a:solidFill>
              </a:rPr>
              <a:t> Number of households engaged in crop production per square kilometer of county area | </a:t>
            </a:r>
            <a:pPr algn="ctr" indent="0" marL="0">
              <a:lnSpc>
                <a:spcPts val="1400"/>
              </a:lnSpc>
              <a:buNone/>
            </a:pPr>
            <a:r>
              <a:rPr lang="en-US" sz="784" b="1" dirty="0">
                <a:solidFill>
                  <a:srgbClr val="2D5016"/>
                </a:solidFill>
              </a:rPr>
              <a:t>Formula:</a:t>
            </a:r>
            <a:pPr algn="ctr" indent="0" marL="0">
              <a:lnSpc>
                <a:spcPts val="1400"/>
              </a:lnSpc>
              <a:buNone/>
            </a:pPr>
            <a:r>
              <a:rPr lang="en-US" sz="834" dirty="0">
                <a:solidFill>
                  <a:srgbClr val="4A4A4A"/>
                </a:solidFill>
              </a:rPr>
              <a:t> Crop Production ÷ Area (sq km) </a:t>
            </a:r>
            <a:pPr algn="ctr" indent="0" marL="0">
              <a:lnSpc>
                <a:spcPts val="1400"/>
              </a:lnSpc>
              <a:buNone/>
            </a:pPr>
            <a:r>
              <a:rPr lang="en-US" sz="834" dirty="0">
                <a:solidFill>
                  <a:srgbClr val="4A4A4A"/>
                </a:solidFill>
              </a:rPr>
              <a:t>| </a:t>
            </a:r>
            <a:pPr algn="ctr" indent="0" marL="0">
              <a:lnSpc>
                <a:spcPts val="1400"/>
              </a:lnSpc>
              <a:buNone/>
            </a:pPr>
            <a:r>
              <a:rPr lang="en-US" sz="784" b="1" dirty="0">
                <a:solidFill>
                  <a:srgbClr val="2D5016"/>
                </a:solidFill>
              </a:rPr>
              <a:t>Unit:</a:t>
            </a:r>
            <a:pPr algn="ctr" indent="0" marL="0">
              <a:lnSpc>
                <a:spcPts val="1400"/>
              </a:lnSpc>
              <a:buNone/>
            </a:pPr>
            <a:r>
              <a:rPr lang="en-US" sz="834" dirty="0">
                <a:solidFill>
                  <a:srgbClr val="4A4A4A"/>
                </a:solidFill>
              </a:rPr>
              <a:t> Households per sq km</a:t>
            </a:r>
            <a:endParaRPr lang="en-US" sz="784" dirty="0"/>
          </a:p>
        </p:txBody>
      </p:sp>
      <p:sp>
        <p:nvSpPr>
          <p:cNvPr id="7" name="Shape 4"/>
          <p:cNvSpPr/>
          <p:nvPr/>
        </p:nvSpPr>
        <p:spPr>
          <a:xfrm>
            <a:off x="500063" y="1780189"/>
            <a:ext cx="8143875" cy="371475"/>
          </a:xfrm>
          <a:prstGeom prst="rect">
            <a:avLst/>
          </a:prstGeom>
          <a:solidFill>
            <a:srgbClr val="2D5016"/>
          </a:solidFill>
          <a:ln/>
        </p:spPr>
      </p:sp>
      <p:sp>
        <p:nvSpPr>
          <p:cNvPr id="8" name="Text 5"/>
          <p:cNvSpPr/>
          <p:nvPr/>
        </p:nvSpPr>
        <p:spPr>
          <a:xfrm>
            <a:off x="500063" y="1780189"/>
            <a:ext cx="1379358" cy="371475"/>
          </a:xfrm>
          <a:prstGeom prst="rect">
            <a:avLst/>
          </a:prstGeom>
          <a:noFill/>
          <a:ln/>
        </p:spPr>
        <p:txBody>
          <a:bodyPr wrap="square" lIns="153035" tIns="119126" rIns="153035" bIns="119126" rtlCol="0" anchor="ctr">
            <a:spAutoFit/>
          </a:bodyPr>
          <a:lstStyle/>
          <a:p>
            <a:pPr algn="l" indent="0" marL="0">
              <a:lnSpc>
                <a:spcPts val="1400"/>
              </a:lnSpc>
              <a:buNone/>
            </a:pPr>
            <a:r>
              <a:rPr lang="en-US" sz="784" b="1" dirty="0">
                <a:solidFill>
                  <a:srgbClr val="F4F1E8"/>
                </a:solidFill>
              </a:rPr>
              <a:t>County</a:t>
            </a:r>
            <a:endParaRPr lang="en-US" sz="784" dirty="0"/>
          </a:p>
        </p:txBody>
      </p:sp>
      <p:sp>
        <p:nvSpPr>
          <p:cNvPr id="9" name="Text 6"/>
          <p:cNvSpPr/>
          <p:nvPr/>
        </p:nvSpPr>
        <p:spPr>
          <a:xfrm>
            <a:off x="1879420" y="1780189"/>
            <a:ext cx="2888196" cy="371475"/>
          </a:xfrm>
          <a:prstGeom prst="rect">
            <a:avLst/>
          </a:prstGeom>
          <a:noFill/>
          <a:ln/>
        </p:spPr>
        <p:txBody>
          <a:bodyPr wrap="square" lIns="153035" tIns="119126" rIns="153035" bIns="119126" rtlCol="0" anchor="ctr">
            <a:spAutoFit/>
          </a:bodyPr>
          <a:lstStyle/>
          <a:p>
            <a:pPr algn="l" indent="0" marL="0">
              <a:lnSpc>
                <a:spcPts val="1400"/>
              </a:lnSpc>
              <a:buNone/>
            </a:pPr>
            <a:r>
              <a:rPr lang="en-US" sz="784" b="1" dirty="0">
                <a:solidFill>
                  <a:srgbClr val="F4F1E8"/>
                </a:solidFill>
              </a:rPr>
              <a:t>Crop Production (HH)</a:t>
            </a:r>
            <a:endParaRPr lang="en-US" sz="784" dirty="0"/>
          </a:p>
        </p:txBody>
      </p:sp>
      <p:sp>
        <p:nvSpPr>
          <p:cNvPr id="10" name="Text 7"/>
          <p:cNvSpPr/>
          <p:nvPr/>
        </p:nvSpPr>
        <p:spPr>
          <a:xfrm>
            <a:off x="4767616" y="1780189"/>
            <a:ext cx="1804411" cy="371475"/>
          </a:xfrm>
          <a:prstGeom prst="rect">
            <a:avLst/>
          </a:prstGeom>
          <a:noFill/>
          <a:ln/>
        </p:spPr>
        <p:txBody>
          <a:bodyPr wrap="square" lIns="153035" tIns="119126" rIns="153035" bIns="119126" rtlCol="0" anchor="ctr">
            <a:spAutoFit/>
          </a:bodyPr>
          <a:lstStyle/>
          <a:p>
            <a:pPr algn="l" indent="0" marL="0">
              <a:lnSpc>
                <a:spcPts val="1400"/>
              </a:lnSpc>
              <a:buNone/>
            </a:pPr>
            <a:r>
              <a:rPr lang="en-US" sz="784" b="1" dirty="0">
                <a:solidFill>
                  <a:srgbClr val="F4F1E8"/>
                </a:solidFill>
              </a:rPr>
              <a:t>Area (sq km)</a:t>
            </a:r>
            <a:endParaRPr lang="en-US" sz="784" dirty="0"/>
          </a:p>
        </p:txBody>
      </p:sp>
      <p:sp>
        <p:nvSpPr>
          <p:cNvPr id="11" name="Text 8"/>
          <p:cNvSpPr/>
          <p:nvPr/>
        </p:nvSpPr>
        <p:spPr>
          <a:xfrm>
            <a:off x="6572027" y="1780189"/>
            <a:ext cx="2071911" cy="371475"/>
          </a:xfrm>
          <a:prstGeom prst="rect">
            <a:avLst/>
          </a:prstGeom>
          <a:noFill/>
          <a:ln/>
        </p:spPr>
        <p:txBody>
          <a:bodyPr wrap="square" lIns="153035" tIns="119126" rIns="153035" bIns="119126" rtlCol="0" anchor="ctr">
            <a:spAutoFit/>
          </a:bodyPr>
          <a:lstStyle/>
          <a:p>
            <a:pPr algn="r" indent="0" marL="0">
              <a:lnSpc>
                <a:spcPts val="1400"/>
              </a:lnSpc>
              <a:buNone/>
            </a:pPr>
            <a:r>
              <a:rPr lang="en-US" sz="784" b="1" dirty="0">
                <a:solidFill>
                  <a:srgbClr val="F4F1E8"/>
                </a:solidFill>
              </a:rPr>
              <a:t>Crop Intensity</a:t>
            </a:r>
            <a:endParaRPr lang="en-US" sz="784" dirty="0"/>
          </a:p>
        </p:txBody>
      </p:sp>
      <p:sp>
        <p:nvSpPr>
          <p:cNvPr id="12" name="Shape 9"/>
          <p:cNvSpPr/>
          <p:nvPr/>
        </p:nvSpPr>
        <p:spPr>
          <a:xfrm>
            <a:off x="500063" y="2151664"/>
            <a:ext cx="8143875" cy="346472"/>
          </a:xfrm>
          <a:prstGeom prst="rect">
            <a:avLst/>
          </a:prstGeom>
          <a:solidFill>
            <a:srgbClr val="7A9B57">
              <a:alpha val="8000"/>
            </a:srgbClr>
          </a:solidFill>
          <a:ln/>
        </p:spPr>
      </p:sp>
      <p:sp>
        <p:nvSpPr>
          <p:cNvPr id="13" name="Shape 10"/>
          <p:cNvSpPr/>
          <p:nvPr/>
        </p:nvSpPr>
        <p:spPr>
          <a:xfrm>
            <a:off x="500063" y="2490992"/>
            <a:ext cx="8143875" cy="7144"/>
          </a:xfrm>
          <a:prstGeom prst="rect">
            <a:avLst/>
          </a:prstGeom>
          <a:solidFill>
            <a:srgbClr val="E0E5DC"/>
          </a:solidFill>
          <a:ln/>
        </p:spPr>
      </p:sp>
      <p:sp>
        <p:nvSpPr>
          <p:cNvPr id="14" name="Text 11"/>
          <p:cNvSpPr/>
          <p:nvPr/>
        </p:nvSpPr>
        <p:spPr>
          <a:xfrm>
            <a:off x="500063" y="2151664"/>
            <a:ext cx="1379358" cy="342900"/>
          </a:xfrm>
          <a:prstGeom prst="rect">
            <a:avLst/>
          </a:prstGeom>
          <a:noFill/>
          <a:ln/>
        </p:spPr>
        <p:txBody>
          <a:bodyPr wrap="square" lIns="153035" tIns="102108" rIns="153035" bIns="102108" rtlCol="0" anchor="ctr">
            <a:spAutoFit/>
          </a:bodyPr>
          <a:lstStyle/>
          <a:p>
            <a:pPr algn="l" indent="0" marL="0">
              <a:lnSpc>
                <a:spcPts val="1300"/>
              </a:lnSpc>
              <a:buNone/>
            </a:pPr>
            <a:r>
              <a:rPr lang="en-US" sz="734" b="1" dirty="0">
                <a:solidFill>
                  <a:srgbClr val="2D5016"/>
                </a:solidFill>
              </a:rPr>
              <a:t>VIHIGA</a:t>
            </a:r>
            <a:endParaRPr lang="en-US" sz="734" dirty="0"/>
          </a:p>
        </p:txBody>
      </p:sp>
      <p:sp>
        <p:nvSpPr>
          <p:cNvPr id="15" name="Text 12"/>
          <p:cNvSpPr/>
          <p:nvPr/>
        </p:nvSpPr>
        <p:spPr>
          <a:xfrm>
            <a:off x="1879420" y="2151664"/>
            <a:ext cx="2888196"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108,522</a:t>
            </a:r>
            <a:endParaRPr lang="en-US" sz="780" dirty="0"/>
          </a:p>
        </p:txBody>
      </p:sp>
      <p:sp>
        <p:nvSpPr>
          <p:cNvPr id="16" name="Text 13"/>
          <p:cNvSpPr/>
          <p:nvPr/>
        </p:nvSpPr>
        <p:spPr>
          <a:xfrm>
            <a:off x="4767616" y="2151664"/>
            <a:ext cx="1804411"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563.8</a:t>
            </a:r>
            <a:endParaRPr lang="en-US" sz="780" dirty="0"/>
          </a:p>
        </p:txBody>
      </p:sp>
      <p:sp>
        <p:nvSpPr>
          <p:cNvPr id="17" name="Text 14"/>
          <p:cNvSpPr/>
          <p:nvPr/>
        </p:nvSpPr>
        <p:spPr>
          <a:xfrm>
            <a:off x="6572027" y="2151664"/>
            <a:ext cx="2071911" cy="342900"/>
          </a:xfrm>
          <a:prstGeom prst="rect">
            <a:avLst/>
          </a:prstGeom>
          <a:noFill/>
          <a:ln/>
        </p:spPr>
        <p:txBody>
          <a:bodyPr wrap="square" lIns="153035" tIns="102108" rIns="153035" bIns="102108" rtlCol="0" anchor="ctr">
            <a:spAutoFit/>
          </a:bodyPr>
          <a:lstStyle/>
          <a:p>
            <a:pPr algn="r" indent="0" marL="0">
              <a:lnSpc>
                <a:spcPts val="1400"/>
              </a:lnSpc>
              <a:buNone/>
            </a:pPr>
            <a:r>
              <a:rPr lang="en-US" sz="784" b="1" dirty="0">
                <a:solidFill>
                  <a:srgbClr val="C1502E"/>
                </a:solidFill>
              </a:rPr>
              <a:t>192.48</a:t>
            </a:r>
            <a:endParaRPr lang="en-US" sz="784" dirty="0"/>
          </a:p>
        </p:txBody>
      </p:sp>
      <p:sp>
        <p:nvSpPr>
          <p:cNvPr id="18" name="Shape 15"/>
          <p:cNvSpPr/>
          <p:nvPr/>
        </p:nvSpPr>
        <p:spPr>
          <a:xfrm>
            <a:off x="500063" y="2494564"/>
            <a:ext cx="8143875" cy="346472"/>
          </a:xfrm>
          <a:prstGeom prst="rect">
            <a:avLst/>
          </a:prstGeom>
          <a:solidFill>
            <a:srgbClr val="C1502E">
              <a:alpha val="5000"/>
            </a:srgbClr>
          </a:solidFill>
          <a:ln/>
        </p:spPr>
      </p:sp>
      <p:sp>
        <p:nvSpPr>
          <p:cNvPr id="19" name="Shape 16"/>
          <p:cNvSpPr/>
          <p:nvPr/>
        </p:nvSpPr>
        <p:spPr>
          <a:xfrm>
            <a:off x="500063" y="2833892"/>
            <a:ext cx="8143875" cy="7144"/>
          </a:xfrm>
          <a:prstGeom prst="rect">
            <a:avLst/>
          </a:prstGeom>
          <a:solidFill>
            <a:srgbClr val="E0E5DC"/>
          </a:solidFill>
          <a:ln/>
        </p:spPr>
      </p:sp>
      <p:sp>
        <p:nvSpPr>
          <p:cNvPr id="20" name="Text 17"/>
          <p:cNvSpPr/>
          <p:nvPr/>
        </p:nvSpPr>
        <p:spPr>
          <a:xfrm>
            <a:off x="500063" y="2494564"/>
            <a:ext cx="1379358" cy="342900"/>
          </a:xfrm>
          <a:prstGeom prst="rect">
            <a:avLst/>
          </a:prstGeom>
          <a:noFill/>
          <a:ln/>
        </p:spPr>
        <p:txBody>
          <a:bodyPr wrap="square" lIns="153035" tIns="102108" rIns="153035" bIns="102108" rtlCol="0" anchor="ctr">
            <a:spAutoFit/>
          </a:bodyPr>
          <a:lstStyle/>
          <a:p>
            <a:pPr algn="l" indent="0" marL="0">
              <a:lnSpc>
                <a:spcPts val="1300"/>
              </a:lnSpc>
              <a:buNone/>
            </a:pPr>
            <a:r>
              <a:rPr lang="en-US" sz="734" b="1" dirty="0">
                <a:solidFill>
                  <a:srgbClr val="2D5016"/>
                </a:solidFill>
              </a:rPr>
              <a:t>KISII</a:t>
            </a:r>
            <a:endParaRPr lang="en-US" sz="734" dirty="0"/>
          </a:p>
        </p:txBody>
      </p:sp>
      <p:sp>
        <p:nvSpPr>
          <p:cNvPr id="21" name="Text 18"/>
          <p:cNvSpPr/>
          <p:nvPr/>
        </p:nvSpPr>
        <p:spPr>
          <a:xfrm>
            <a:off x="1879420" y="2494564"/>
            <a:ext cx="2888196"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207,400</a:t>
            </a:r>
            <a:endParaRPr lang="en-US" sz="780" dirty="0"/>
          </a:p>
        </p:txBody>
      </p:sp>
      <p:sp>
        <p:nvSpPr>
          <p:cNvPr id="22" name="Text 19"/>
          <p:cNvSpPr/>
          <p:nvPr/>
        </p:nvSpPr>
        <p:spPr>
          <a:xfrm>
            <a:off x="4767616" y="2494564"/>
            <a:ext cx="1804411"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1,323.0</a:t>
            </a:r>
            <a:endParaRPr lang="en-US" sz="780" dirty="0"/>
          </a:p>
        </p:txBody>
      </p:sp>
      <p:sp>
        <p:nvSpPr>
          <p:cNvPr id="23" name="Text 20"/>
          <p:cNvSpPr/>
          <p:nvPr/>
        </p:nvSpPr>
        <p:spPr>
          <a:xfrm>
            <a:off x="6572027" y="2494564"/>
            <a:ext cx="2071911" cy="342900"/>
          </a:xfrm>
          <a:prstGeom prst="rect">
            <a:avLst/>
          </a:prstGeom>
          <a:noFill/>
          <a:ln/>
        </p:spPr>
        <p:txBody>
          <a:bodyPr wrap="square" lIns="153035" tIns="102108" rIns="153035" bIns="102108" rtlCol="0" anchor="ctr">
            <a:spAutoFit/>
          </a:bodyPr>
          <a:lstStyle/>
          <a:p>
            <a:pPr algn="r" indent="0" marL="0">
              <a:lnSpc>
                <a:spcPts val="1400"/>
              </a:lnSpc>
              <a:buNone/>
            </a:pPr>
            <a:r>
              <a:rPr lang="en-US" sz="784" b="1" dirty="0">
                <a:solidFill>
                  <a:srgbClr val="C1502E"/>
                </a:solidFill>
              </a:rPr>
              <a:t>156.76</a:t>
            </a:r>
            <a:endParaRPr lang="en-US" sz="784" dirty="0"/>
          </a:p>
        </p:txBody>
      </p:sp>
      <p:sp>
        <p:nvSpPr>
          <p:cNvPr id="24" name="Shape 21"/>
          <p:cNvSpPr/>
          <p:nvPr/>
        </p:nvSpPr>
        <p:spPr>
          <a:xfrm>
            <a:off x="500063" y="2837464"/>
            <a:ext cx="8143875" cy="346472"/>
          </a:xfrm>
          <a:prstGeom prst="rect">
            <a:avLst/>
          </a:prstGeom>
          <a:solidFill>
            <a:srgbClr val="7A9B57">
              <a:alpha val="8000"/>
            </a:srgbClr>
          </a:solidFill>
          <a:ln/>
        </p:spPr>
      </p:sp>
      <p:sp>
        <p:nvSpPr>
          <p:cNvPr id="25" name="Shape 22"/>
          <p:cNvSpPr/>
          <p:nvPr/>
        </p:nvSpPr>
        <p:spPr>
          <a:xfrm>
            <a:off x="500063" y="3176792"/>
            <a:ext cx="8143875" cy="7144"/>
          </a:xfrm>
          <a:prstGeom prst="rect">
            <a:avLst/>
          </a:prstGeom>
          <a:solidFill>
            <a:srgbClr val="E0E5DC"/>
          </a:solidFill>
          <a:ln/>
        </p:spPr>
      </p:sp>
      <p:sp>
        <p:nvSpPr>
          <p:cNvPr id="26" name="Text 23"/>
          <p:cNvSpPr/>
          <p:nvPr/>
        </p:nvSpPr>
        <p:spPr>
          <a:xfrm>
            <a:off x="500063" y="2837464"/>
            <a:ext cx="1379358" cy="342900"/>
          </a:xfrm>
          <a:prstGeom prst="rect">
            <a:avLst/>
          </a:prstGeom>
          <a:noFill/>
          <a:ln/>
        </p:spPr>
        <p:txBody>
          <a:bodyPr wrap="square" lIns="153035" tIns="102108" rIns="153035" bIns="102108" rtlCol="0" anchor="ctr">
            <a:spAutoFit/>
          </a:bodyPr>
          <a:lstStyle/>
          <a:p>
            <a:pPr algn="l" indent="0" marL="0">
              <a:lnSpc>
                <a:spcPts val="1300"/>
              </a:lnSpc>
              <a:buNone/>
            </a:pPr>
            <a:r>
              <a:rPr lang="en-US" sz="734" b="1" dirty="0">
                <a:solidFill>
                  <a:srgbClr val="2D5016"/>
                </a:solidFill>
              </a:rPr>
              <a:t>NYAMIRA</a:t>
            </a:r>
            <a:endParaRPr lang="en-US" sz="734" dirty="0"/>
          </a:p>
        </p:txBody>
      </p:sp>
      <p:sp>
        <p:nvSpPr>
          <p:cNvPr id="27" name="Text 24"/>
          <p:cNvSpPr/>
          <p:nvPr/>
        </p:nvSpPr>
        <p:spPr>
          <a:xfrm>
            <a:off x="1879420" y="2837464"/>
            <a:ext cx="2888196"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102,856</a:t>
            </a:r>
            <a:endParaRPr lang="en-US" sz="780" dirty="0"/>
          </a:p>
        </p:txBody>
      </p:sp>
      <p:sp>
        <p:nvSpPr>
          <p:cNvPr id="28" name="Text 25"/>
          <p:cNvSpPr/>
          <p:nvPr/>
        </p:nvSpPr>
        <p:spPr>
          <a:xfrm>
            <a:off x="4767616" y="2837464"/>
            <a:ext cx="1804411"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897.3</a:t>
            </a:r>
            <a:endParaRPr lang="en-US" sz="780" dirty="0"/>
          </a:p>
        </p:txBody>
      </p:sp>
      <p:sp>
        <p:nvSpPr>
          <p:cNvPr id="29" name="Text 26"/>
          <p:cNvSpPr/>
          <p:nvPr/>
        </p:nvSpPr>
        <p:spPr>
          <a:xfrm>
            <a:off x="6572027" y="2837464"/>
            <a:ext cx="2071911" cy="342900"/>
          </a:xfrm>
          <a:prstGeom prst="rect">
            <a:avLst/>
          </a:prstGeom>
          <a:noFill/>
          <a:ln/>
        </p:spPr>
        <p:txBody>
          <a:bodyPr wrap="square" lIns="153035" tIns="102108" rIns="153035" bIns="102108" rtlCol="0" anchor="ctr">
            <a:spAutoFit/>
          </a:bodyPr>
          <a:lstStyle/>
          <a:p>
            <a:pPr algn="r" indent="0" marL="0">
              <a:lnSpc>
                <a:spcPts val="1400"/>
              </a:lnSpc>
              <a:buNone/>
            </a:pPr>
            <a:r>
              <a:rPr lang="en-US" sz="784" b="1" dirty="0">
                <a:solidFill>
                  <a:srgbClr val="C1502E"/>
                </a:solidFill>
              </a:rPr>
              <a:t>114.63</a:t>
            </a:r>
            <a:endParaRPr lang="en-US" sz="784" dirty="0"/>
          </a:p>
        </p:txBody>
      </p:sp>
      <p:sp>
        <p:nvSpPr>
          <p:cNvPr id="30" name="Shape 27"/>
          <p:cNvSpPr/>
          <p:nvPr/>
        </p:nvSpPr>
        <p:spPr>
          <a:xfrm>
            <a:off x="500063" y="3180364"/>
            <a:ext cx="8143875" cy="346472"/>
          </a:xfrm>
          <a:prstGeom prst="rect">
            <a:avLst/>
          </a:prstGeom>
          <a:solidFill>
            <a:srgbClr val="C1502E">
              <a:alpha val="5000"/>
            </a:srgbClr>
          </a:solidFill>
          <a:ln/>
        </p:spPr>
      </p:sp>
      <p:sp>
        <p:nvSpPr>
          <p:cNvPr id="31" name="Shape 28"/>
          <p:cNvSpPr/>
          <p:nvPr/>
        </p:nvSpPr>
        <p:spPr>
          <a:xfrm>
            <a:off x="500063" y="3519692"/>
            <a:ext cx="8143875" cy="7144"/>
          </a:xfrm>
          <a:prstGeom prst="rect">
            <a:avLst/>
          </a:prstGeom>
          <a:solidFill>
            <a:srgbClr val="E0E5DC"/>
          </a:solidFill>
          <a:ln/>
        </p:spPr>
      </p:sp>
      <p:sp>
        <p:nvSpPr>
          <p:cNvPr id="32" name="Text 29"/>
          <p:cNvSpPr/>
          <p:nvPr/>
        </p:nvSpPr>
        <p:spPr>
          <a:xfrm>
            <a:off x="500063" y="3180364"/>
            <a:ext cx="1379358" cy="342900"/>
          </a:xfrm>
          <a:prstGeom prst="rect">
            <a:avLst/>
          </a:prstGeom>
          <a:noFill/>
          <a:ln/>
        </p:spPr>
        <p:txBody>
          <a:bodyPr wrap="square" lIns="153035" tIns="102108" rIns="153035" bIns="102108" rtlCol="0" anchor="ctr">
            <a:spAutoFit/>
          </a:bodyPr>
          <a:lstStyle/>
          <a:p>
            <a:pPr algn="l" indent="0" marL="0">
              <a:lnSpc>
                <a:spcPts val="1300"/>
              </a:lnSpc>
              <a:buNone/>
            </a:pPr>
            <a:r>
              <a:rPr lang="en-US" sz="734" b="1" dirty="0">
                <a:solidFill>
                  <a:srgbClr val="2D5016"/>
                </a:solidFill>
              </a:rPr>
              <a:t>KAKAMEGA</a:t>
            </a:r>
            <a:endParaRPr lang="en-US" sz="734" dirty="0"/>
          </a:p>
        </p:txBody>
      </p:sp>
      <p:sp>
        <p:nvSpPr>
          <p:cNvPr id="33" name="Text 30"/>
          <p:cNvSpPr/>
          <p:nvPr/>
        </p:nvSpPr>
        <p:spPr>
          <a:xfrm>
            <a:off x="1879420" y="3180364"/>
            <a:ext cx="2888196"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321,945</a:t>
            </a:r>
            <a:endParaRPr lang="en-US" sz="780" dirty="0"/>
          </a:p>
        </p:txBody>
      </p:sp>
      <p:sp>
        <p:nvSpPr>
          <p:cNvPr id="34" name="Text 31"/>
          <p:cNvSpPr/>
          <p:nvPr/>
        </p:nvSpPr>
        <p:spPr>
          <a:xfrm>
            <a:off x="4767616" y="3180364"/>
            <a:ext cx="1804411"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3,020.0</a:t>
            </a:r>
            <a:endParaRPr lang="en-US" sz="780" dirty="0"/>
          </a:p>
        </p:txBody>
      </p:sp>
      <p:sp>
        <p:nvSpPr>
          <p:cNvPr id="35" name="Text 32"/>
          <p:cNvSpPr/>
          <p:nvPr/>
        </p:nvSpPr>
        <p:spPr>
          <a:xfrm>
            <a:off x="6572027" y="3180364"/>
            <a:ext cx="2071911" cy="342900"/>
          </a:xfrm>
          <a:prstGeom prst="rect">
            <a:avLst/>
          </a:prstGeom>
          <a:noFill/>
          <a:ln/>
        </p:spPr>
        <p:txBody>
          <a:bodyPr wrap="square" lIns="153035" tIns="102108" rIns="153035" bIns="102108" rtlCol="0" anchor="ctr">
            <a:spAutoFit/>
          </a:bodyPr>
          <a:lstStyle/>
          <a:p>
            <a:pPr algn="r" indent="0" marL="0">
              <a:lnSpc>
                <a:spcPts val="1400"/>
              </a:lnSpc>
              <a:buNone/>
            </a:pPr>
            <a:r>
              <a:rPr lang="en-US" sz="784" b="1" dirty="0">
                <a:solidFill>
                  <a:srgbClr val="C1502E"/>
                </a:solidFill>
              </a:rPr>
              <a:t>106.60</a:t>
            </a:r>
            <a:endParaRPr lang="en-US" sz="784" dirty="0"/>
          </a:p>
        </p:txBody>
      </p:sp>
      <p:sp>
        <p:nvSpPr>
          <p:cNvPr id="36" name="Shape 33"/>
          <p:cNvSpPr/>
          <p:nvPr/>
        </p:nvSpPr>
        <p:spPr>
          <a:xfrm>
            <a:off x="500063" y="3523264"/>
            <a:ext cx="8143875" cy="346472"/>
          </a:xfrm>
          <a:prstGeom prst="rect">
            <a:avLst/>
          </a:prstGeom>
          <a:solidFill>
            <a:srgbClr val="7A9B57">
              <a:alpha val="8000"/>
            </a:srgbClr>
          </a:solidFill>
          <a:ln/>
        </p:spPr>
      </p:sp>
      <p:sp>
        <p:nvSpPr>
          <p:cNvPr id="37" name="Shape 34"/>
          <p:cNvSpPr/>
          <p:nvPr/>
        </p:nvSpPr>
        <p:spPr>
          <a:xfrm>
            <a:off x="500063" y="3862592"/>
            <a:ext cx="8143875" cy="7144"/>
          </a:xfrm>
          <a:prstGeom prst="rect">
            <a:avLst/>
          </a:prstGeom>
          <a:solidFill>
            <a:srgbClr val="E0E5DC"/>
          </a:solidFill>
          <a:ln/>
        </p:spPr>
      </p:sp>
      <p:sp>
        <p:nvSpPr>
          <p:cNvPr id="38" name="Text 35"/>
          <p:cNvSpPr/>
          <p:nvPr/>
        </p:nvSpPr>
        <p:spPr>
          <a:xfrm>
            <a:off x="500063" y="3523264"/>
            <a:ext cx="1379358" cy="342900"/>
          </a:xfrm>
          <a:prstGeom prst="rect">
            <a:avLst/>
          </a:prstGeom>
          <a:noFill/>
          <a:ln/>
        </p:spPr>
        <p:txBody>
          <a:bodyPr wrap="square" lIns="153035" tIns="102108" rIns="153035" bIns="102108" rtlCol="0" anchor="ctr">
            <a:spAutoFit/>
          </a:bodyPr>
          <a:lstStyle/>
          <a:p>
            <a:pPr algn="l" indent="0" marL="0">
              <a:lnSpc>
                <a:spcPts val="1300"/>
              </a:lnSpc>
              <a:buNone/>
            </a:pPr>
            <a:r>
              <a:rPr lang="en-US" sz="734" b="1" dirty="0">
                <a:solidFill>
                  <a:srgbClr val="2D5016"/>
                </a:solidFill>
              </a:rPr>
              <a:t>BUNGOMA</a:t>
            </a:r>
            <a:endParaRPr lang="en-US" sz="734" dirty="0"/>
          </a:p>
        </p:txBody>
      </p:sp>
      <p:sp>
        <p:nvSpPr>
          <p:cNvPr id="39" name="Text 36"/>
          <p:cNvSpPr/>
          <p:nvPr/>
        </p:nvSpPr>
        <p:spPr>
          <a:xfrm>
            <a:off x="1879420" y="3523264"/>
            <a:ext cx="2888196"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269,979</a:t>
            </a:r>
            <a:endParaRPr lang="en-US" sz="780" dirty="0"/>
          </a:p>
        </p:txBody>
      </p:sp>
      <p:sp>
        <p:nvSpPr>
          <p:cNvPr id="40" name="Text 37"/>
          <p:cNvSpPr/>
          <p:nvPr/>
        </p:nvSpPr>
        <p:spPr>
          <a:xfrm>
            <a:off x="4767616" y="3523264"/>
            <a:ext cx="1804411" cy="342900"/>
          </a:xfrm>
          <a:prstGeom prst="rect">
            <a:avLst/>
          </a:prstGeom>
          <a:noFill/>
          <a:ln/>
        </p:spPr>
        <p:txBody>
          <a:bodyPr wrap="square" lIns="153035" tIns="102108" rIns="153035" bIns="102108" rtlCol="0" anchor="ctr">
            <a:spAutoFit/>
          </a:bodyPr>
          <a:lstStyle/>
          <a:p>
            <a:pPr algn="l" indent="0" marL="0">
              <a:lnSpc>
                <a:spcPts val="1300"/>
              </a:lnSpc>
              <a:buNone/>
            </a:pPr>
            <a:r>
              <a:rPr lang="en-US" sz="780" dirty="0">
                <a:solidFill>
                  <a:srgbClr val="4A4A4A"/>
                </a:solidFill>
              </a:rPr>
              <a:t>3,023.9</a:t>
            </a:r>
            <a:endParaRPr lang="en-US" sz="780" dirty="0"/>
          </a:p>
        </p:txBody>
      </p:sp>
      <p:sp>
        <p:nvSpPr>
          <p:cNvPr id="41" name="Text 38"/>
          <p:cNvSpPr/>
          <p:nvPr/>
        </p:nvSpPr>
        <p:spPr>
          <a:xfrm>
            <a:off x="6572027" y="3523264"/>
            <a:ext cx="2071911" cy="342900"/>
          </a:xfrm>
          <a:prstGeom prst="rect">
            <a:avLst/>
          </a:prstGeom>
          <a:noFill/>
          <a:ln/>
        </p:spPr>
        <p:txBody>
          <a:bodyPr wrap="square" lIns="153035" tIns="102108" rIns="153035" bIns="102108" rtlCol="0" anchor="ctr">
            <a:spAutoFit/>
          </a:bodyPr>
          <a:lstStyle/>
          <a:p>
            <a:pPr algn="r" indent="0" marL="0">
              <a:lnSpc>
                <a:spcPts val="1400"/>
              </a:lnSpc>
              <a:buNone/>
            </a:pPr>
            <a:r>
              <a:rPr lang="en-US" sz="784" b="1" dirty="0">
                <a:solidFill>
                  <a:srgbClr val="C1502E"/>
                </a:solidFill>
              </a:rPr>
              <a:t>89.28</a:t>
            </a:r>
            <a:endParaRPr lang="en-US" sz="784" dirty="0"/>
          </a:p>
        </p:txBody>
      </p:sp>
      <p:sp>
        <p:nvSpPr>
          <p:cNvPr id="42" name="Shape 39"/>
          <p:cNvSpPr/>
          <p:nvPr/>
        </p:nvSpPr>
        <p:spPr>
          <a:xfrm>
            <a:off x="500063" y="4080477"/>
            <a:ext cx="3964781" cy="1750219"/>
          </a:xfrm>
          <a:prstGeom prst="rect">
            <a:avLst/>
          </a:prstGeom>
          <a:solidFill>
            <a:srgbClr val="7A9B57">
              <a:alpha val="12000"/>
            </a:srgbClr>
          </a:solidFill>
          <a:ln/>
        </p:spPr>
      </p:sp>
      <p:sp>
        <p:nvSpPr>
          <p:cNvPr id="43" name="Shape 40"/>
          <p:cNvSpPr/>
          <p:nvPr/>
        </p:nvSpPr>
        <p:spPr>
          <a:xfrm>
            <a:off x="500063" y="4080477"/>
            <a:ext cx="28575" cy="1750219"/>
          </a:xfrm>
          <a:prstGeom prst="rect">
            <a:avLst/>
          </a:prstGeom>
          <a:solidFill>
            <a:srgbClr val="7A9B57"/>
          </a:solidFill>
          <a:ln/>
        </p:spPr>
      </p:sp>
      <p:pic>
        <p:nvPicPr>
          <p:cNvPr id="44" name="Image 1" descr="preencoded.png">    </p:cNvPr>
          <p:cNvPicPr>
            <a:picLocks noChangeAspect="1"/>
          </p:cNvPicPr>
          <p:nvPr/>
        </p:nvPicPr>
        <p:blipFill>
          <a:blip r:embed="rId2"/>
          <a:stretch>
            <a:fillRect/>
          </a:stretch>
        </p:blipFill>
        <p:spPr>
          <a:xfrm>
            <a:off x="678656" y="4248355"/>
            <a:ext cx="107156" cy="142875"/>
          </a:xfrm>
          <a:prstGeom prst="rect">
            <a:avLst/>
          </a:prstGeom>
        </p:spPr>
      </p:pic>
      <p:sp>
        <p:nvSpPr>
          <p:cNvPr id="45" name="Text 41"/>
          <p:cNvSpPr/>
          <p:nvPr/>
        </p:nvSpPr>
        <p:spPr>
          <a:xfrm>
            <a:off x="842963" y="4223352"/>
            <a:ext cx="1341965"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7A9B57"/>
                </a:solidFill>
              </a:rPr>
              <a:t>Policy Interpretation</a:t>
            </a:r>
            <a:endParaRPr lang="en-US" sz="885" dirty="0"/>
          </a:p>
        </p:txBody>
      </p:sp>
      <p:sp>
        <p:nvSpPr>
          <p:cNvPr id="46" name="Text 42"/>
          <p:cNvSpPr/>
          <p:nvPr/>
        </p:nvSpPr>
        <p:spPr>
          <a:xfrm>
            <a:off x="678656" y="4487670"/>
            <a:ext cx="3607594" cy="12001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These counties demonstrate the highest concentration of crop farming households relative to their land area, suggesting intensive agricultural land use. This may indicate high agricultural productivity potential, limited land availability requiring efficient use, or high population pressure on agricultural land. Policy interventions should focus on sustainable intensification, soil health management, and access to improved seeds and farming technologies.</a:t>
            </a:r>
            <a:endParaRPr lang="en-US" sz="780" dirty="0"/>
          </a:p>
        </p:txBody>
      </p:sp>
      <p:sp>
        <p:nvSpPr>
          <p:cNvPr id="47" name="Shape 43"/>
          <p:cNvSpPr/>
          <p:nvPr/>
        </p:nvSpPr>
        <p:spPr>
          <a:xfrm>
            <a:off x="4679156" y="4080477"/>
            <a:ext cx="3964781" cy="1750219"/>
          </a:xfrm>
          <a:prstGeom prst="rect">
            <a:avLst/>
          </a:prstGeom>
          <a:solidFill>
            <a:srgbClr val="C1502E">
              <a:alpha val="8000"/>
            </a:srgbClr>
          </a:solidFill>
          <a:ln/>
        </p:spPr>
      </p:sp>
      <p:sp>
        <p:nvSpPr>
          <p:cNvPr id="48" name="Shape 44"/>
          <p:cNvSpPr/>
          <p:nvPr/>
        </p:nvSpPr>
        <p:spPr>
          <a:xfrm>
            <a:off x="4679156" y="4080477"/>
            <a:ext cx="28575" cy="1750219"/>
          </a:xfrm>
          <a:prstGeom prst="rect">
            <a:avLst/>
          </a:prstGeom>
          <a:solidFill>
            <a:srgbClr val="C1502E"/>
          </a:solidFill>
          <a:ln/>
        </p:spPr>
      </p:sp>
      <p:pic>
        <p:nvPicPr>
          <p:cNvPr id="49" name="Image 2" descr="preencoded.png">    </p:cNvPr>
          <p:cNvPicPr>
            <a:picLocks noChangeAspect="1"/>
          </p:cNvPicPr>
          <p:nvPr/>
        </p:nvPicPr>
        <p:blipFill>
          <a:blip r:embed="rId3"/>
          <a:stretch>
            <a:fillRect/>
          </a:stretch>
        </p:blipFill>
        <p:spPr>
          <a:xfrm>
            <a:off x="4857750" y="4248355"/>
            <a:ext cx="142875" cy="142875"/>
          </a:xfrm>
          <a:prstGeom prst="rect">
            <a:avLst/>
          </a:prstGeom>
        </p:spPr>
      </p:pic>
      <p:sp>
        <p:nvSpPr>
          <p:cNvPr id="50" name="Text 45"/>
          <p:cNvSpPr/>
          <p:nvPr/>
        </p:nvSpPr>
        <p:spPr>
          <a:xfrm>
            <a:off x="5057775" y="4223352"/>
            <a:ext cx="66995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C1502E"/>
                </a:solidFill>
              </a:rPr>
              <a:t>Limitation</a:t>
            </a:r>
            <a:endParaRPr lang="en-US" sz="885" dirty="0"/>
          </a:p>
        </p:txBody>
      </p:sp>
      <p:sp>
        <p:nvSpPr>
          <p:cNvPr id="51" name="Text 46"/>
          <p:cNvSpPr/>
          <p:nvPr/>
        </p:nvSpPr>
        <p:spPr>
          <a:xfrm>
            <a:off x="4857750" y="4487670"/>
            <a:ext cx="3607594"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This metric does not account for land quality, climate suitability, or actual crop yields. Counties with smaller total areas may appear more intensive even with moderate farming activity. Additionally, the metric does not distinguish between subsistence and commercial farming, nor does it reflect farm productivity or income levels.</a:t>
            </a:r>
            <a:endParaRPr lang="en-US" sz="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775722"/>
          </a:xfrm>
          <a:prstGeom prst="rect">
            <a:avLst/>
          </a:prstGeom>
        </p:spPr>
      </p:pic>
      <p:sp>
        <p:nvSpPr>
          <p:cNvPr id="3" name="Text 0"/>
          <p:cNvSpPr/>
          <p:nvPr/>
        </p:nvSpPr>
        <p:spPr>
          <a:xfrm>
            <a:off x="500063" y="357188"/>
            <a:ext cx="8143875" cy="450056"/>
          </a:xfrm>
          <a:prstGeom prst="rect">
            <a:avLst/>
          </a:prstGeom>
          <a:noFill/>
          <a:ln/>
        </p:spPr>
        <p:txBody>
          <a:bodyPr wrap="none" lIns="0" tIns="0" rIns="0" bIns="0" rtlCol="0" anchor="t">
            <a:spAutoFit/>
          </a:bodyPr>
          <a:lstStyle/>
          <a:p>
            <a:pPr algn="l" indent="0" marL="0">
              <a:lnSpc>
                <a:spcPts val="3500"/>
              </a:lnSpc>
              <a:buNone/>
            </a:pPr>
            <a:r>
              <a:rPr lang="en-US" sz="2121" b="1" dirty="0">
                <a:solidFill>
                  <a:srgbClr val="2D5016"/>
                </a:solidFill>
              </a:rPr>
              <a:t>Policy Metric 2: Agricultural Engagement Rate</a:t>
            </a:r>
            <a:endParaRPr lang="en-US" sz="2121" dirty="0"/>
          </a:p>
        </p:txBody>
      </p:sp>
      <p:sp>
        <p:nvSpPr>
          <p:cNvPr id="4" name="Shape 1"/>
          <p:cNvSpPr/>
          <p:nvPr/>
        </p:nvSpPr>
        <p:spPr>
          <a:xfrm>
            <a:off x="500063" y="1057275"/>
            <a:ext cx="3257550" cy="917972"/>
          </a:xfrm>
          <a:prstGeom prst="rect">
            <a:avLst/>
          </a:prstGeom>
          <a:solidFill>
            <a:srgbClr val="2D5016">
              <a:alpha val="8000"/>
            </a:srgbClr>
          </a:solidFill>
          <a:ln/>
        </p:spPr>
      </p:sp>
      <p:sp>
        <p:nvSpPr>
          <p:cNvPr id="5" name="Shape 2"/>
          <p:cNvSpPr/>
          <p:nvPr/>
        </p:nvSpPr>
        <p:spPr>
          <a:xfrm>
            <a:off x="500063" y="1057275"/>
            <a:ext cx="28575" cy="917972"/>
          </a:xfrm>
          <a:prstGeom prst="rect">
            <a:avLst/>
          </a:prstGeom>
          <a:solidFill>
            <a:srgbClr val="7A9B57"/>
          </a:solidFill>
          <a:ln/>
        </p:spPr>
      </p:sp>
      <p:sp>
        <p:nvSpPr>
          <p:cNvPr id="6" name="Text 3"/>
          <p:cNvSpPr/>
          <p:nvPr/>
        </p:nvSpPr>
        <p:spPr>
          <a:xfrm>
            <a:off x="642938" y="1200150"/>
            <a:ext cx="297180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2D5016"/>
                </a:solidFill>
              </a:rPr>
              <a:t>Metric Definition</a:t>
            </a:r>
            <a:endParaRPr lang="en-US" sz="885" dirty="0"/>
          </a:p>
        </p:txBody>
      </p:sp>
      <p:sp>
        <p:nvSpPr>
          <p:cNvPr id="7" name="Text 4"/>
          <p:cNvSpPr/>
          <p:nvPr/>
        </p:nvSpPr>
        <p:spPr>
          <a:xfrm>
            <a:off x="642938" y="1464469"/>
            <a:ext cx="2971800" cy="160734"/>
          </a:xfrm>
          <a:prstGeom prst="rect">
            <a:avLst/>
          </a:prstGeom>
          <a:noFill/>
          <a:ln/>
        </p:spPr>
        <p:txBody>
          <a:bodyPr wrap="none" lIns="0" tIns="0" rIns="0" bIns="0" rtlCol="0" anchor="t">
            <a:spAutoFit/>
          </a:bodyPr>
          <a:lstStyle/>
          <a:p>
            <a:pPr algn="l" indent="0" marL="0">
              <a:lnSpc>
                <a:spcPts val="1300"/>
              </a:lnSpc>
              <a:buNone/>
            </a:pPr>
            <a:r>
              <a:rPr lang="en-US" sz="734" b="1" dirty="0">
                <a:solidFill>
                  <a:srgbClr val="4A4A4A"/>
                </a:solidFill>
              </a:rPr>
              <a:t>Formula:</a:t>
            </a:r>
            <a:pPr algn="l" indent="0" marL="0">
              <a:lnSpc>
                <a:spcPts val="1300"/>
              </a:lnSpc>
              <a:buNone/>
            </a:pPr>
            <a:r>
              <a:rPr lang="en-US" sz="780" dirty="0">
                <a:solidFill>
                  <a:srgbClr val="4A4A4A"/>
                </a:solidFill>
              </a:rPr>
              <a:t> (Farming / Total_Households) × 100</a:t>
            </a:r>
            <a:endParaRPr lang="en-US" sz="734" dirty="0"/>
          </a:p>
        </p:txBody>
      </p:sp>
      <p:sp>
        <p:nvSpPr>
          <p:cNvPr id="8" name="Text 5"/>
          <p:cNvSpPr/>
          <p:nvPr/>
        </p:nvSpPr>
        <p:spPr>
          <a:xfrm>
            <a:off x="642938" y="1682353"/>
            <a:ext cx="2971800" cy="150019"/>
          </a:xfrm>
          <a:prstGeom prst="rect">
            <a:avLst/>
          </a:prstGeom>
          <a:noFill/>
          <a:ln/>
        </p:spPr>
        <p:txBody>
          <a:bodyPr wrap="none" lIns="0" tIns="0" rIns="0" bIns="0" rtlCol="0" anchor="t">
            <a:spAutoFit/>
          </a:bodyPr>
          <a:lstStyle/>
          <a:p>
            <a:pPr algn="l" indent="0" marL="0">
              <a:lnSpc>
                <a:spcPts val="1200"/>
              </a:lnSpc>
              <a:buNone/>
            </a:pPr>
            <a:r>
              <a:rPr lang="en-US" sz="683" b="1" i="1" dirty="0">
                <a:solidFill>
                  <a:srgbClr val="4A4A4A"/>
                </a:solidFill>
              </a:rPr>
              <a:t>Unit:</a:t>
            </a:r>
            <a:pPr algn="l" indent="0" marL="0">
              <a:lnSpc>
                <a:spcPts val="1200"/>
              </a:lnSpc>
              <a:buNone/>
            </a:pPr>
            <a:r>
              <a:rPr lang="en-US" sz="727" i="1" dirty="0">
                <a:solidFill>
                  <a:srgbClr val="4A4A4A"/>
                </a:solidFill>
              </a:rPr>
              <a:t> Percentage (%)</a:t>
            </a:r>
            <a:endParaRPr lang="en-US" sz="683" dirty="0"/>
          </a:p>
        </p:txBody>
      </p:sp>
      <p:sp>
        <p:nvSpPr>
          <p:cNvPr id="9" name="Shape 6"/>
          <p:cNvSpPr/>
          <p:nvPr/>
        </p:nvSpPr>
        <p:spPr>
          <a:xfrm>
            <a:off x="500063" y="2153841"/>
            <a:ext cx="3257550" cy="1078706"/>
          </a:xfrm>
          <a:prstGeom prst="rect">
            <a:avLst/>
          </a:prstGeom>
          <a:solidFill>
            <a:srgbClr val="C1502E">
              <a:alpha val="12000"/>
            </a:srgbClr>
          </a:solidFill>
          <a:ln/>
        </p:spPr>
      </p:sp>
      <p:sp>
        <p:nvSpPr>
          <p:cNvPr id="10" name="Shape 7"/>
          <p:cNvSpPr/>
          <p:nvPr/>
        </p:nvSpPr>
        <p:spPr>
          <a:xfrm>
            <a:off x="500063" y="2153841"/>
            <a:ext cx="3257550" cy="21431"/>
          </a:xfrm>
          <a:prstGeom prst="rect">
            <a:avLst/>
          </a:prstGeom>
          <a:solidFill>
            <a:srgbClr val="C1502E"/>
          </a:solidFill>
          <a:ln/>
        </p:spPr>
      </p:sp>
      <p:sp>
        <p:nvSpPr>
          <p:cNvPr id="11" name="Text 8"/>
          <p:cNvSpPr/>
          <p:nvPr/>
        </p:nvSpPr>
        <p:spPr>
          <a:xfrm>
            <a:off x="642938" y="2296716"/>
            <a:ext cx="2971800" cy="150019"/>
          </a:xfrm>
          <a:prstGeom prst="rect">
            <a:avLst/>
          </a:prstGeom>
          <a:noFill/>
          <a:ln/>
        </p:spPr>
        <p:txBody>
          <a:bodyPr wrap="none" lIns="0" tIns="0" rIns="0" bIns="0" rtlCol="0" anchor="t">
            <a:spAutoFit/>
          </a:bodyPr>
          <a:lstStyle/>
          <a:p>
            <a:pPr algn="ctr" indent="0" marL="0">
              <a:lnSpc>
                <a:spcPts val="1200"/>
              </a:lnSpc>
              <a:buNone/>
            </a:pPr>
            <a:r>
              <a:rPr lang="en-US" sz="727" dirty="0">
                <a:solidFill>
                  <a:srgbClr val="4A4A4A"/>
                </a:solidFill>
              </a:rPr>
              <a:t>Correlation with Population Density</a:t>
            </a:r>
            <a:endParaRPr lang="en-US" sz="727" dirty="0"/>
          </a:p>
        </p:txBody>
      </p:sp>
      <p:sp>
        <p:nvSpPr>
          <p:cNvPr id="12" name="Text 9"/>
          <p:cNvSpPr/>
          <p:nvPr/>
        </p:nvSpPr>
        <p:spPr>
          <a:xfrm>
            <a:off x="642938" y="2503884"/>
            <a:ext cx="2971800" cy="342900"/>
          </a:xfrm>
          <a:prstGeom prst="rect">
            <a:avLst/>
          </a:prstGeom>
          <a:noFill/>
          <a:ln/>
        </p:spPr>
        <p:txBody>
          <a:bodyPr wrap="none" lIns="0" tIns="0" rIns="0" bIns="0" rtlCol="0" anchor="t">
            <a:spAutoFit/>
          </a:bodyPr>
          <a:lstStyle/>
          <a:p>
            <a:pPr algn="ctr" indent="0" marL="0">
              <a:lnSpc>
                <a:spcPts val="2700"/>
              </a:lnSpc>
              <a:buNone/>
            </a:pPr>
            <a:r>
              <a:rPr lang="en-US" sz="2436" b="1" dirty="0">
                <a:solidFill>
                  <a:srgbClr val="C1502E"/>
                </a:solidFill>
              </a:rPr>
              <a:t>-0.589</a:t>
            </a:r>
            <a:endParaRPr lang="en-US" sz="2436" dirty="0"/>
          </a:p>
        </p:txBody>
      </p:sp>
      <p:sp>
        <p:nvSpPr>
          <p:cNvPr id="13" name="Text 10"/>
          <p:cNvSpPr/>
          <p:nvPr/>
        </p:nvSpPr>
        <p:spPr>
          <a:xfrm>
            <a:off x="642938" y="2882503"/>
            <a:ext cx="2971800" cy="128588"/>
          </a:xfrm>
          <a:prstGeom prst="rect">
            <a:avLst/>
          </a:prstGeom>
          <a:noFill/>
          <a:ln/>
        </p:spPr>
        <p:txBody>
          <a:bodyPr wrap="none" lIns="0" tIns="0" rIns="0" bIns="0" rtlCol="0" anchor="t">
            <a:spAutoFit/>
          </a:bodyPr>
          <a:lstStyle/>
          <a:p>
            <a:pPr algn="ctr" indent="0" marL="0">
              <a:lnSpc>
                <a:spcPts val="1000"/>
              </a:lnSpc>
              <a:buNone/>
            </a:pPr>
            <a:r>
              <a:rPr lang="en-US" sz="621" dirty="0">
                <a:solidFill>
                  <a:srgbClr val="4A4A4A"/>
                </a:solidFill>
              </a:rPr>
              <a:t>(p &lt; 0.0001)</a:t>
            </a:r>
            <a:endParaRPr lang="en-US" sz="621" dirty="0"/>
          </a:p>
        </p:txBody>
      </p:sp>
      <p:sp>
        <p:nvSpPr>
          <p:cNvPr id="14" name="Text 11"/>
          <p:cNvSpPr/>
          <p:nvPr/>
        </p:nvSpPr>
        <p:spPr>
          <a:xfrm>
            <a:off x="500063" y="3389709"/>
            <a:ext cx="3257550" cy="192881"/>
          </a:xfrm>
          <a:prstGeom prst="rect">
            <a:avLst/>
          </a:prstGeom>
          <a:noFill/>
          <a:ln/>
        </p:spPr>
        <p:txBody>
          <a:bodyPr wrap="none" lIns="0" tIns="0" rIns="0" bIns="0" rtlCol="0" anchor="t">
            <a:spAutoFit/>
          </a:bodyPr>
          <a:lstStyle/>
          <a:p>
            <a:pPr algn="l" indent="0" marL="0">
              <a:lnSpc>
                <a:spcPts val="1500"/>
              </a:lnSpc>
              <a:buNone/>
            </a:pPr>
            <a:r>
              <a:rPr lang="en-US" sz="885" b="1" dirty="0">
                <a:solidFill>
                  <a:srgbClr val="2D5016"/>
                </a:solidFill>
              </a:rPr>
              <a:t>Top 5 Counties</a:t>
            </a:r>
            <a:endParaRPr lang="en-US" sz="885" dirty="0"/>
          </a:p>
        </p:txBody>
      </p:sp>
      <p:sp>
        <p:nvSpPr>
          <p:cNvPr id="15" name="Shape 12"/>
          <p:cNvSpPr/>
          <p:nvPr/>
        </p:nvSpPr>
        <p:spPr>
          <a:xfrm>
            <a:off x="500063" y="3668316"/>
            <a:ext cx="3257550" cy="282178"/>
          </a:xfrm>
          <a:prstGeom prst="rect">
            <a:avLst/>
          </a:prstGeom>
          <a:solidFill>
            <a:srgbClr val="7A9B57">
              <a:alpha val="8000"/>
            </a:srgbClr>
          </a:solidFill>
          <a:ln/>
        </p:spPr>
      </p:sp>
      <p:sp>
        <p:nvSpPr>
          <p:cNvPr id="16" name="Shape 13"/>
          <p:cNvSpPr/>
          <p:nvPr/>
        </p:nvSpPr>
        <p:spPr>
          <a:xfrm>
            <a:off x="500063" y="3668316"/>
            <a:ext cx="939654" cy="282178"/>
          </a:xfrm>
          <a:prstGeom prst="rect">
            <a:avLst/>
          </a:prstGeom>
          <a:solidFill>
            <a:srgbClr val="2D5016"/>
          </a:solidFill>
          <a:ln/>
        </p:spPr>
      </p:sp>
      <p:sp>
        <p:nvSpPr>
          <p:cNvPr id="17" name="Text 14"/>
          <p:cNvSpPr/>
          <p:nvPr/>
        </p:nvSpPr>
        <p:spPr>
          <a:xfrm>
            <a:off x="500063" y="3668316"/>
            <a:ext cx="939654" cy="282178"/>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F4F1E8"/>
                </a:solidFill>
              </a:rPr>
              <a:t>County</a:t>
            </a:r>
            <a:endParaRPr lang="en-US" sz="634" dirty="0"/>
          </a:p>
        </p:txBody>
      </p:sp>
      <p:sp>
        <p:nvSpPr>
          <p:cNvPr id="18" name="Shape 15"/>
          <p:cNvSpPr/>
          <p:nvPr/>
        </p:nvSpPr>
        <p:spPr>
          <a:xfrm>
            <a:off x="1439717" y="3668316"/>
            <a:ext cx="1346848" cy="282178"/>
          </a:xfrm>
          <a:prstGeom prst="rect">
            <a:avLst/>
          </a:prstGeom>
          <a:solidFill>
            <a:srgbClr val="2D5016"/>
          </a:solidFill>
          <a:ln/>
        </p:spPr>
      </p:sp>
      <p:sp>
        <p:nvSpPr>
          <p:cNvPr id="19" name="Text 16"/>
          <p:cNvSpPr/>
          <p:nvPr/>
        </p:nvSpPr>
        <p:spPr>
          <a:xfrm>
            <a:off x="1439717" y="3668316"/>
            <a:ext cx="1346848" cy="282178"/>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F4F1E8"/>
                </a:solidFill>
              </a:rPr>
              <a:t>Engagement Rate</a:t>
            </a:r>
            <a:endParaRPr lang="en-US" sz="634" dirty="0"/>
          </a:p>
        </p:txBody>
      </p:sp>
      <p:sp>
        <p:nvSpPr>
          <p:cNvPr id="20" name="Shape 17"/>
          <p:cNvSpPr/>
          <p:nvPr/>
        </p:nvSpPr>
        <p:spPr>
          <a:xfrm>
            <a:off x="2786565" y="3668316"/>
            <a:ext cx="971048" cy="282178"/>
          </a:xfrm>
          <a:prstGeom prst="rect">
            <a:avLst/>
          </a:prstGeom>
          <a:solidFill>
            <a:srgbClr val="2D5016"/>
          </a:solidFill>
          <a:ln/>
        </p:spPr>
      </p:sp>
      <p:sp>
        <p:nvSpPr>
          <p:cNvPr id="21" name="Text 18"/>
          <p:cNvSpPr/>
          <p:nvPr/>
        </p:nvSpPr>
        <p:spPr>
          <a:xfrm>
            <a:off x="2786565" y="3668316"/>
            <a:ext cx="971048" cy="282178"/>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F4F1E8"/>
                </a:solidFill>
              </a:rPr>
              <a:t>Density/km²</a:t>
            </a:r>
            <a:endParaRPr lang="en-US" sz="634" dirty="0"/>
          </a:p>
        </p:txBody>
      </p:sp>
      <p:sp>
        <p:nvSpPr>
          <p:cNvPr id="22" name="Shape 19"/>
          <p:cNvSpPr/>
          <p:nvPr/>
        </p:nvSpPr>
        <p:spPr>
          <a:xfrm>
            <a:off x="500063" y="3950494"/>
            <a:ext cx="3257550" cy="285750"/>
          </a:xfrm>
          <a:prstGeom prst="rect">
            <a:avLst/>
          </a:prstGeom>
          <a:solidFill>
            <a:srgbClr val="7A9B57">
              <a:alpha val="8000"/>
            </a:srgbClr>
          </a:solidFill>
          <a:ln/>
        </p:spPr>
      </p:sp>
      <p:sp>
        <p:nvSpPr>
          <p:cNvPr id="23" name="Text 20"/>
          <p:cNvSpPr/>
          <p:nvPr/>
        </p:nvSpPr>
        <p:spPr>
          <a:xfrm>
            <a:off x="500063" y="3950494"/>
            <a:ext cx="939654" cy="285750"/>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2D5016"/>
                </a:solidFill>
              </a:rPr>
              <a:t>KITUI</a:t>
            </a:r>
            <a:endParaRPr lang="en-US" sz="634" dirty="0"/>
          </a:p>
        </p:txBody>
      </p:sp>
      <p:sp>
        <p:nvSpPr>
          <p:cNvPr id="24" name="Text 21"/>
          <p:cNvSpPr/>
          <p:nvPr/>
        </p:nvSpPr>
        <p:spPr>
          <a:xfrm>
            <a:off x="1439717" y="3950494"/>
            <a:ext cx="1346848" cy="285750"/>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81.9%</a:t>
            </a:r>
            <a:endParaRPr lang="en-US" sz="674" dirty="0"/>
          </a:p>
        </p:txBody>
      </p:sp>
      <p:sp>
        <p:nvSpPr>
          <p:cNvPr id="25" name="Text 22"/>
          <p:cNvSpPr/>
          <p:nvPr/>
        </p:nvSpPr>
        <p:spPr>
          <a:xfrm>
            <a:off x="2786565" y="3950494"/>
            <a:ext cx="971048" cy="285750"/>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37.3</a:t>
            </a:r>
            <a:endParaRPr lang="en-US" sz="674" dirty="0"/>
          </a:p>
        </p:txBody>
      </p:sp>
      <p:sp>
        <p:nvSpPr>
          <p:cNvPr id="26" name="Shape 23"/>
          <p:cNvSpPr/>
          <p:nvPr/>
        </p:nvSpPr>
        <p:spPr>
          <a:xfrm>
            <a:off x="500063" y="4236244"/>
            <a:ext cx="3257550" cy="289322"/>
          </a:xfrm>
          <a:prstGeom prst="rect">
            <a:avLst/>
          </a:prstGeom>
          <a:solidFill>
            <a:srgbClr val="C1502E">
              <a:alpha val="5000"/>
            </a:srgbClr>
          </a:solidFill>
          <a:ln/>
        </p:spPr>
      </p:sp>
      <p:sp>
        <p:nvSpPr>
          <p:cNvPr id="27" name="Text 24"/>
          <p:cNvSpPr/>
          <p:nvPr/>
        </p:nvSpPr>
        <p:spPr>
          <a:xfrm>
            <a:off x="500063" y="4236244"/>
            <a:ext cx="939654" cy="289322"/>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2D5016"/>
                </a:solidFill>
              </a:rPr>
              <a:t>BOMET</a:t>
            </a:r>
            <a:endParaRPr lang="en-US" sz="634" dirty="0"/>
          </a:p>
        </p:txBody>
      </p:sp>
      <p:sp>
        <p:nvSpPr>
          <p:cNvPr id="28" name="Text 25"/>
          <p:cNvSpPr/>
          <p:nvPr/>
        </p:nvSpPr>
        <p:spPr>
          <a:xfrm>
            <a:off x="1439717" y="4236244"/>
            <a:ext cx="13468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81.3%</a:t>
            </a:r>
            <a:endParaRPr lang="en-US" sz="674" dirty="0"/>
          </a:p>
        </p:txBody>
      </p:sp>
      <p:sp>
        <p:nvSpPr>
          <p:cNvPr id="29" name="Text 26"/>
          <p:cNvSpPr/>
          <p:nvPr/>
        </p:nvSpPr>
        <p:spPr>
          <a:xfrm>
            <a:off x="2786565" y="4236244"/>
            <a:ext cx="9710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346.0</a:t>
            </a:r>
            <a:endParaRPr lang="en-US" sz="674" dirty="0"/>
          </a:p>
        </p:txBody>
      </p:sp>
      <p:sp>
        <p:nvSpPr>
          <p:cNvPr id="30" name="Shape 27"/>
          <p:cNvSpPr/>
          <p:nvPr/>
        </p:nvSpPr>
        <p:spPr>
          <a:xfrm>
            <a:off x="500063" y="4525566"/>
            <a:ext cx="3257550" cy="289322"/>
          </a:xfrm>
          <a:prstGeom prst="rect">
            <a:avLst/>
          </a:prstGeom>
          <a:solidFill>
            <a:srgbClr val="7A9B57">
              <a:alpha val="8000"/>
            </a:srgbClr>
          </a:solidFill>
          <a:ln/>
        </p:spPr>
      </p:sp>
      <p:sp>
        <p:nvSpPr>
          <p:cNvPr id="31" name="Text 28"/>
          <p:cNvSpPr/>
          <p:nvPr/>
        </p:nvSpPr>
        <p:spPr>
          <a:xfrm>
            <a:off x="500063" y="4525566"/>
            <a:ext cx="939654" cy="289322"/>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2D5016"/>
                </a:solidFill>
              </a:rPr>
              <a:t>VIHIGA</a:t>
            </a:r>
            <a:endParaRPr lang="en-US" sz="634" dirty="0"/>
          </a:p>
        </p:txBody>
      </p:sp>
      <p:sp>
        <p:nvSpPr>
          <p:cNvPr id="32" name="Text 29"/>
          <p:cNvSpPr/>
          <p:nvPr/>
        </p:nvSpPr>
        <p:spPr>
          <a:xfrm>
            <a:off x="1439717" y="4525566"/>
            <a:ext cx="13468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79.3%</a:t>
            </a:r>
            <a:endParaRPr lang="en-US" sz="674" dirty="0"/>
          </a:p>
        </p:txBody>
      </p:sp>
      <p:sp>
        <p:nvSpPr>
          <p:cNvPr id="33" name="Text 30"/>
          <p:cNvSpPr/>
          <p:nvPr/>
        </p:nvSpPr>
        <p:spPr>
          <a:xfrm>
            <a:off x="2786565" y="4525566"/>
            <a:ext cx="9710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1046.5</a:t>
            </a:r>
            <a:endParaRPr lang="en-US" sz="674" dirty="0"/>
          </a:p>
        </p:txBody>
      </p:sp>
      <p:sp>
        <p:nvSpPr>
          <p:cNvPr id="34" name="Shape 31"/>
          <p:cNvSpPr/>
          <p:nvPr/>
        </p:nvSpPr>
        <p:spPr>
          <a:xfrm>
            <a:off x="500063" y="4814888"/>
            <a:ext cx="3257550" cy="289322"/>
          </a:xfrm>
          <a:prstGeom prst="rect">
            <a:avLst/>
          </a:prstGeom>
          <a:solidFill>
            <a:srgbClr val="C1502E">
              <a:alpha val="5000"/>
            </a:srgbClr>
          </a:solidFill>
          <a:ln/>
        </p:spPr>
      </p:sp>
      <p:sp>
        <p:nvSpPr>
          <p:cNvPr id="35" name="Text 32"/>
          <p:cNvSpPr/>
          <p:nvPr/>
        </p:nvSpPr>
        <p:spPr>
          <a:xfrm>
            <a:off x="500063" y="4814888"/>
            <a:ext cx="939654" cy="289322"/>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2D5016"/>
                </a:solidFill>
              </a:rPr>
              <a:t>MAKUENI</a:t>
            </a:r>
            <a:endParaRPr lang="en-US" sz="634" dirty="0"/>
          </a:p>
        </p:txBody>
      </p:sp>
      <p:sp>
        <p:nvSpPr>
          <p:cNvPr id="36" name="Text 33"/>
          <p:cNvSpPr/>
          <p:nvPr/>
        </p:nvSpPr>
        <p:spPr>
          <a:xfrm>
            <a:off x="1439717" y="4814888"/>
            <a:ext cx="13468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79.1%</a:t>
            </a:r>
            <a:endParaRPr lang="en-US" sz="674" dirty="0"/>
          </a:p>
        </p:txBody>
      </p:sp>
      <p:sp>
        <p:nvSpPr>
          <p:cNvPr id="37" name="Text 34"/>
          <p:cNvSpPr/>
          <p:nvPr/>
        </p:nvSpPr>
        <p:spPr>
          <a:xfrm>
            <a:off x="2786565" y="4814888"/>
            <a:ext cx="9710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120.9</a:t>
            </a:r>
            <a:endParaRPr lang="en-US" sz="674" dirty="0"/>
          </a:p>
        </p:txBody>
      </p:sp>
      <p:sp>
        <p:nvSpPr>
          <p:cNvPr id="38" name="Shape 35"/>
          <p:cNvSpPr/>
          <p:nvPr/>
        </p:nvSpPr>
        <p:spPr>
          <a:xfrm>
            <a:off x="500063" y="5104209"/>
            <a:ext cx="3257550" cy="289322"/>
          </a:xfrm>
          <a:prstGeom prst="rect">
            <a:avLst/>
          </a:prstGeom>
          <a:solidFill>
            <a:srgbClr val="7A9B57">
              <a:alpha val="8000"/>
            </a:srgbClr>
          </a:solidFill>
          <a:ln/>
        </p:spPr>
      </p:sp>
      <p:sp>
        <p:nvSpPr>
          <p:cNvPr id="39" name="Text 36"/>
          <p:cNvSpPr/>
          <p:nvPr/>
        </p:nvSpPr>
        <p:spPr>
          <a:xfrm>
            <a:off x="500063" y="5104209"/>
            <a:ext cx="939654" cy="289322"/>
          </a:xfrm>
          <a:prstGeom prst="rect">
            <a:avLst/>
          </a:prstGeom>
          <a:noFill/>
          <a:ln/>
        </p:spPr>
        <p:txBody>
          <a:bodyPr wrap="square" lIns="68072" tIns="85090" rIns="68072" bIns="85090" rtlCol="0" anchor="ctr">
            <a:spAutoFit/>
          </a:bodyPr>
          <a:lstStyle/>
          <a:p>
            <a:pPr algn="l" indent="0" marL="0">
              <a:lnSpc>
                <a:spcPts val="1100"/>
              </a:lnSpc>
              <a:buNone/>
            </a:pPr>
            <a:r>
              <a:rPr lang="en-US" sz="634" b="1" dirty="0">
                <a:solidFill>
                  <a:srgbClr val="2D5016"/>
                </a:solidFill>
              </a:rPr>
              <a:t>NYANDARUA</a:t>
            </a:r>
            <a:endParaRPr lang="en-US" sz="634" dirty="0"/>
          </a:p>
        </p:txBody>
      </p:sp>
      <p:sp>
        <p:nvSpPr>
          <p:cNvPr id="40" name="Text 37"/>
          <p:cNvSpPr/>
          <p:nvPr/>
        </p:nvSpPr>
        <p:spPr>
          <a:xfrm>
            <a:off x="1439717" y="5104209"/>
            <a:ext cx="13468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78.4%</a:t>
            </a:r>
            <a:endParaRPr lang="en-US" sz="674" dirty="0"/>
          </a:p>
        </p:txBody>
      </p:sp>
      <p:sp>
        <p:nvSpPr>
          <p:cNvPr id="41" name="Text 38"/>
          <p:cNvSpPr/>
          <p:nvPr/>
        </p:nvSpPr>
        <p:spPr>
          <a:xfrm>
            <a:off x="2786565" y="5104209"/>
            <a:ext cx="971048" cy="289322"/>
          </a:xfrm>
          <a:prstGeom prst="rect">
            <a:avLst/>
          </a:prstGeom>
          <a:noFill/>
          <a:ln/>
        </p:spPr>
        <p:txBody>
          <a:bodyPr wrap="square" lIns="68072" tIns="85090" rIns="68072" bIns="85090" rtlCol="0" anchor="ctr">
            <a:spAutoFit/>
          </a:bodyPr>
          <a:lstStyle/>
          <a:p>
            <a:pPr algn="r" indent="0" marL="0">
              <a:lnSpc>
                <a:spcPts val="1100"/>
              </a:lnSpc>
              <a:buNone/>
            </a:pPr>
            <a:r>
              <a:rPr lang="en-US" sz="674" dirty="0">
                <a:solidFill>
                  <a:srgbClr val="4A4A4A"/>
                </a:solidFill>
              </a:rPr>
              <a:t>194.3</a:t>
            </a:r>
            <a:endParaRPr lang="en-US" sz="674" dirty="0"/>
          </a:p>
        </p:txBody>
      </p:sp>
      <p:pic>
        <p:nvPicPr>
          <p:cNvPr id="42" name="Image 1" descr="preencoded.png">    </p:cNvPr>
          <p:cNvPicPr>
            <a:picLocks noChangeAspect="1"/>
          </p:cNvPicPr>
          <p:nvPr/>
        </p:nvPicPr>
        <p:blipFill>
          <a:blip r:embed="rId2"/>
          <a:stretch>
            <a:fillRect/>
          </a:stretch>
        </p:blipFill>
        <p:spPr>
          <a:xfrm>
            <a:off x="4043363" y="1262658"/>
            <a:ext cx="4886325" cy="392906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6460182"/>
          </a:xfrm>
          <a:prstGeom prst="rect">
            <a:avLst/>
          </a:prstGeom>
        </p:spPr>
      </p:pic>
      <p:sp>
        <p:nvSpPr>
          <p:cNvPr id="3" name="Text 0"/>
          <p:cNvSpPr/>
          <p:nvPr/>
        </p:nvSpPr>
        <p:spPr>
          <a:xfrm>
            <a:off x="428625" y="214313"/>
            <a:ext cx="8286750" cy="364331"/>
          </a:xfrm>
          <a:prstGeom prst="rect">
            <a:avLst/>
          </a:prstGeom>
          <a:noFill/>
          <a:ln/>
        </p:spPr>
        <p:txBody>
          <a:bodyPr wrap="none" lIns="0" tIns="0" rIns="0" bIns="0" rtlCol="0" anchor="t">
            <a:spAutoFit/>
          </a:bodyPr>
          <a:lstStyle/>
          <a:p>
            <a:pPr algn="l" indent="0" marL="0">
              <a:lnSpc>
                <a:spcPts val="2900"/>
              </a:lnSpc>
              <a:buNone/>
            </a:pPr>
            <a:r>
              <a:rPr lang="en-US" sz="1705" b="1" dirty="0">
                <a:solidFill>
                  <a:srgbClr val="2D5016"/>
                </a:solidFill>
              </a:rPr>
              <a:t>Policy Metric 2: Interpretation &amp; Limitations</a:t>
            </a:r>
            <a:endParaRPr lang="en-US" sz="1705" dirty="0"/>
          </a:p>
        </p:txBody>
      </p:sp>
      <p:pic>
        <p:nvPicPr>
          <p:cNvPr id="4" name="Image 1" descr="preencoded.png">    </p:cNvPr>
          <p:cNvPicPr>
            <a:picLocks noChangeAspect="1"/>
          </p:cNvPicPr>
          <p:nvPr/>
        </p:nvPicPr>
        <p:blipFill>
          <a:blip r:embed="rId2"/>
          <a:stretch>
            <a:fillRect/>
          </a:stretch>
        </p:blipFill>
        <p:spPr>
          <a:xfrm>
            <a:off x="428625" y="739378"/>
            <a:ext cx="128588" cy="171450"/>
          </a:xfrm>
          <a:prstGeom prst="rect">
            <a:avLst/>
          </a:prstGeom>
        </p:spPr>
      </p:pic>
      <p:sp>
        <p:nvSpPr>
          <p:cNvPr id="5" name="Text 1"/>
          <p:cNvSpPr/>
          <p:nvPr/>
        </p:nvSpPr>
        <p:spPr>
          <a:xfrm>
            <a:off x="628650" y="707231"/>
            <a:ext cx="1640160" cy="235744"/>
          </a:xfrm>
          <a:prstGeom prst="rect">
            <a:avLst/>
          </a:prstGeom>
          <a:noFill/>
          <a:ln/>
        </p:spPr>
        <p:txBody>
          <a:bodyPr wrap="none" lIns="0" tIns="0" rIns="0" bIns="0" rtlCol="0" anchor="t">
            <a:spAutoFit/>
          </a:bodyPr>
          <a:lstStyle/>
          <a:p>
            <a:pPr algn="l" indent="0" marL="0">
              <a:lnSpc>
                <a:spcPts val="1900"/>
              </a:lnSpc>
              <a:buNone/>
            </a:pPr>
            <a:r>
              <a:rPr lang="en-US" sz="1090" b="1" dirty="0">
                <a:solidFill>
                  <a:srgbClr val="7A9B57"/>
                </a:solidFill>
              </a:rPr>
              <a:t>Policy Interpretation</a:t>
            </a:r>
            <a:endParaRPr lang="en-US" sz="1090" dirty="0"/>
          </a:p>
        </p:txBody>
      </p:sp>
      <p:sp>
        <p:nvSpPr>
          <p:cNvPr id="6" name="Shape 2"/>
          <p:cNvSpPr/>
          <p:nvPr/>
        </p:nvSpPr>
        <p:spPr>
          <a:xfrm>
            <a:off x="428625" y="1028700"/>
            <a:ext cx="8286750" cy="2534134"/>
          </a:xfrm>
          <a:prstGeom prst="rect">
            <a:avLst/>
          </a:prstGeom>
          <a:solidFill>
            <a:srgbClr val="2D5016">
              <a:alpha val="8000"/>
            </a:srgbClr>
          </a:solidFill>
          <a:ln/>
        </p:spPr>
      </p:sp>
      <p:sp>
        <p:nvSpPr>
          <p:cNvPr id="7" name="Shape 3"/>
          <p:cNvSpPr/>
          <p:nvPr/>
        </p:nvSpPr>
        <p:spPr>
          <a:xfrm>
            <a:off x="428625" y="1028700"/>
            <a:ext cx="42863" cy="2534134"/>
          </a:xfrm>
          <a:prstGeom prst="rect">
            <a:avLst/>
          </a:prstGeom>
          <a:solidFill>
            <a:srgbClr val="7A9B57"/>
          </a:solidFill>
          <a:ln/>
        </p:spPr>
      </p:sp>
      <p:sp>
        <p:nvSpPr>
          <p:cNvPr id="8" name="Text 4"/>
          <p:cNvSpPr/>
          <p:nvPr/>
        </p:nvSpPr>
        <p:spPr>
          <a:xfrm>
            <a:off x="585788" y="1157288"/>
            <a:ext cx="7972425" cy="498277"/>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4A4A4A"/>
                </a:solidFill>
              </a:rPr>
              <a:t>The </a:t>
            </a:r>
            <a:pPr algn="l" indent="0" marL="0">
              <a:lnSpc>
                <a:spcPts val="1300"/>
              </a:lnSpc>
              <a:buNone/>
            </a:pPr>
            <a:r>
              <a:rPr lang="en-US" sz="734" b="1" dirty="0">
                <a:solidFill>
                  <a:srgbClr val="2D5016"/>
                </a:solidFill>
              </a:rPr>
              <a:t>negative correlation coefficient of -0.589</a:t>
            </a:r>
            <a:pPr algn="l" indent="0" marL="0">
              <a:lnSpc>
                <a:spcPts val="1300"/>
              </a:lnSpc>
              <a:buNone/>
            </a:pPr>
            <a:r>
              <a:rPr lang="en-US" sz="780" dirty="0">
                <a:solidFill>
                  <a:srgbClr val="4A4A4A"/>
                </a:solidFill>
              </a:rPr>
              <a:t> reveals a statistically significant inverse relationship between agricultural engagement rates and population </a:t>
            </a:r>
            <a:pPr algn="l" indent="0" marL="0">
              <a:lnSpc>
                <a:spcPts val="1300"/>
              </a:lnSpc>
              <a:buNone/>
            </a:pPr>
            <a:r>
              <a:rPr lang="en-US" sz="780" dirty="0">
                <a:solidFill>
                  <a:srgbClr val="4A4A4A"/>
                </a:solidFill>
              </a:rPr>
              <a:t>density across counties. This finding indicates that counties with higher proportions of households engaged in farming tend to have lower population </a:t>
            </a:r>
            <a:pPr algn="l" indent="0" marL="0">
              <a:lnSpc>
                <a:spcPts val="1300"/>
              </a:lnSpc>
              <a:buNone/>
            </a:pPr>
            <a:r>
              <a:rPr lang="en-US" sz="780" dirty="0">
                <a:solidFill>
                  <a:srgbClr val="4A4A4A"/>
                </a:solidFill>
              </a:rPr>
              <a:t>density, suggesting these are predominantly rural areas where agriculture remains the primary livelihood strategy.</a:t>
            </a:r>
            <a:endParaRPr lang="en-US" sz="780" dirty="0"/>
          </a:p>
        </p:txBody>
      </p:sp>
      <p:sp>
        <p:nvSpPr>
          <p:cNvPr id="9" name="Text 5"/>
          <p:cNvSpPr/>
          <p:nvPr/>
        </p:nvSpPr>
        <p:spPr>
          <a:xfrm>
            <a:off x="585788" y="1741289"/>
            <a:ext cx="7972425" cy="332184"/>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4A4A4A"/>
                </a:solidFill>
              </a:rPr>
              <a:t>Counties with high agricultural engagement rates (above 75%) show </a:t>
            </a:r>
            <a:pPr algn="l" indent="0" marL="0">
              <a:lnSpc>
                <a:spcPts val="1300"/>
              </a:lnSpc>
              <a:buNone/>
            </a:pPr>
            <a:r>
              <a:rPr lang="en-US" sz="734" b="1" dirty="0">
                <a:solidFill>
                  <a:srgbClr val="2D5016"/>
                </a:solidFill>
              </a:rPr>
              <a:t>greater livelihood dependency on farming</a:t>
            </a:r>
            <a:pPr algn="l" indent="0" marL="0">
              <a:lnSpc>
                <a:spcPts val="1300"/>
              </a:lnSpc>
              <a:buNone/>
            </a:pPr>
            <a:r>
              <a:rPr lang="en-US" sz="780" dirty="0">
                <a:solidFill>
                  <a:srgbClr val="4A4A4A"/>
                </a:solidFill>
              </a:rPr>
              <a:t>, which may reflect limited alternative </a:t>
            </a:r>
            <a:pPr algn="l" indent="0" marL="0">
              <a:lnSpc>
                <a:spcPts val="1300"/>
              </a:lnSpc>
              <a:buNone/>
            </a:pPr>
            <a:r>
              <a:rPr lang="en-US" sz="780" dirty="0">
                <a:solidFill>
                  <a:srgbClr val="4A4A4A"/>
                </a:solidFill>
              </a:rPr>
              <a:t>employment opportunities, strong agricultural traditions, or favorable agro-ecological conditions.</a:t>
            </a:r>
            <a:endParaRPr lang="en-US" sz="780" dirty="0"/>
          </a:p>
        </p:txBody>
      </p:sp>
      <p:sp>
        <p:nvSpPr>
          <p:cNvPr id="10" name="Shape 6"/>
          <p:cNvSpPr/>
          <p:nvPr/>
        </p:nvSpPr>
        <p:spPr>
          <a:xfrm>
            <a:off x="585788" y="2159198"/>
            <a:ext cx="7972425" cy="1275048"/>
          </a:xfrm>
          <a:prstGeom prst="rect">
            <a:avLst/>
          </a:prstGeom>
          <a:solidFill>
            <a:srgbClr val="2D5016">
              <a:alpha val="6000"/>
            </a:srgbClr>
          </a:solidFill>
          <a:ln/>
        </p:spPr>
      </p:sp>
      <p:sp>
        <p:nvSpPr>
          <p:cNvPr id="11" name="Shape 7"/>
          <p:cNvSpPr/>
          <p:nvPr/>
        </p:nvSpPr>
        <p:spPr>
          <a:xfrm>
            <a:off x="585788" y="2159198"/>
            <a:ext cx="7972425" cy="21431"/>
          </a:xfrm>
          <a:prstGeom prst="rect">
            <a:avLst/>
          </a:prstGeom>
          <a:solidFill>
            <a:srgbClr val="7A9B57"/>
          </a:solidFill>
          <a:ln/>
        </p:spPr>
      </p:sp>
      <p:sp>
        <p:nvSpPr>
          <p:cNvPr id="12" name="Text 8"/>
          <p:cNvSpPr/>
          <p:nvPr/>
        </p:nvSpPr>
        <p:spPr>
          <a:xfrm>
            <a:off x="714375" y="2244923"/>
            <a:ext cx="7715250" cy="171450"/>
          </a:xfrm>
          <a:prstGeom prst="rect">
            <a:avLst/>
          </a:prstGeom>
          <a:noFill/>
          <a:ln/>
        </p:spPr>
        <p:txBody>
          <a:bodyPr wrap="none" lIns="0" tIns="0" rIns="0" bIns="0" rtlCol="0" anchor="t">
            <a:spAutoFit/>
          </a:bodyPr>
          <a:lstStyle/>
          <a:p>
            <a:pPr algn="l" indent="0" marL="0">
              <a:lnSpc>
                <a:spcPts val="1400"/>
              </a:lnSpc>
              <a:buNone/>
            </a:pPr>
            <a:r>
              <a:rPr lang="en-US" sz="784" b="1" dirty="0">
                <a:solidFill>
                  <a:srgbClr val="2D5016"/>
                </a:solidFill>
              </a:rPr>
              <a:t>Key Policy Recommendations:</a:t>
            </a:r>
            <a:endParaRPr lang="en-US" sz="784" dirty="0"/>
          </a:p>
        </p:txBody>
      </p:sp>
      <p:sp>
        <p:nvSpPr>
          <p:cNvPr id="13" name="Shape 9"/>
          <p:cNvSpPr/>
          <p:nvPr/>
        </p:nvSpPr>
        <p:spPr>
          <a:xfrm rot="2700000">
            <a:off x="714375" y="2516386"/>
            <a:ext cx="50006" cy="50006"/>
          </a:xfrm>
          <a:prstGeom prst="rect">
            <a:avLst/>
          </a:prstGeom>
          <a:solidFill>
            <a:srgbClr val="7A9B57"/>
          </a:solidFill>
          <a:ln/>
        </p:spPr>
      </p:sp>
      <p:sp>
        <p:nvSpPr>
          <p:cNvPr id="14" name="Text 10"/>
          <p:cNvSpPr/>
          <p:nvPr/>
        </p:nvSpPr>
        <p:spPr>
          <a:xfrm>
            <a:off x="714375" y="2473523"/>
            <a:ext cx="7715250" cy="289992"/>
          </a:xfrm>
          <a:prstGeom prst="rect">
            <a:avLst/>
          </a:prstGeom>
          <a:noFill/>
          <a:ln/>
        </p:spPr>
        <p:txBody>
          <a:bodyPr wrap="square" lIns="170053" tIns="0" rIns="0" bIns="0" rtlCol="0" anchor="t">
            <a:spAutoFit/>
          </a:bodyPr>
          <a:lstStyle/>
          <a:p>
            <a:pPr algn="l" indent="0" marL="0">
              <a:lnSpc>
                <a:spcPts val="1100"/>
              </a:lnSpc>
              <a:buNone/>
            </a:pPr>
            <a:r>
              <a:rPr lang="en-US" sz="683" b="1" dirty="0">
                <a:solidFill>
                  <a:srgbClr val="4A4A4A"/>
                </a:solidFill>
              </a:rPr>
              <a:t>Value Chain Development:</a:t>
            </a:r>
            <a:pPr algn="l" indent="0" marL="0">
              <a:lnSpc>
                <a:spcPts val="1100"/>
              </a:lnSpc>
              <a:buNone/>
            </a:pPr>
            <a:r>
              <a:rPr lang="en-US" sz="727" dirty="0">
                <a:solidFill>
                  <a:srgbClr val="4A4A4A"/>
                </a:solidFill>
              </a:rPr>
              <a:t> Strengthen agricultural value chains to improve market access and increase farmer incomes through better linkages to processors </a:t>
            </a:r>
            <a:pPr algn="l" indent="0" marL="0">
              <a:lnSpc>
                <a:spcPts val="1100"/>
              </a:lnSpc>
              <a:buNone/>
            </a:pPr>
            <a:r>
              <a:rPr lang="en-US" sz="727" dirty="0">
                <a:solidFill>
                  <a:srgbClr val="4A4A4A"/>
                </a:solidFill>
              </a:rPr>
              <a:t>and markets</a:t>
            </a:r>
            <a:endParaRPr lang="en-US" sz="683" dirty="0"/>
          </a:p>
        </p:txBody>
      </p:sp>
      <p:sp>
        <p:nvSpPr>
          <p:cNvPr id="15" name="Shape 11"/>
          <p:cNvSpPr/>
          <p:nvPr/>
        </p:nvSpPr>
        <p:spPr>
          <a:xfrm rot="2700000">
            <a:off x="714375" y="2849240"/>
            <a:ext cx="50006" cy="50006"/>
          </a:xfrm>
          <a:prstGeom prst="rect">
            <a:avLst/>
          </a:prstGeom>
          <a:solidFill>
            <a:srgbClr val="7A9B57"/>
          </a:solidFill>
          <a:ln/>
        </p:spPr>
      </p:sp>
      <p:sp>
        <p:nvSpPr>
          <p:cNvPr id="16" name="Text 12"/>
          <p:cNvSpPr/>
          <p:nvPr/>
        </p:nvSpPr>
        <p:spPr>
          <a:xfrm>
            <a:off x="714375" y="2806378"/>
            <a:ext cx="7715250" cy="144996"/>
          </a:xfrm>
          <a:prstGeom prst="rect">
            <a:avLst/>
          </a:prstGeom>
          <a:noFill/>
          <a:ln/>
        </p:spPr>
        <p:txBody>
          <a:bodyPr wrap="none" lIns="170053" tIns="0" rIns="0" bIns="0" rtlCol="0" anchor="t">
            <a:spAutoFit/>
          </a:bodyPr>
          <a:lstStyle/>
          <a:p>
            <a:pPr algn="l" indent="0" marL="0">
              <a:lnSpc>
                <a:spcPts val="1100"/>
              </a:lnSpc>
              <a:buNone/>
            </a:pPr>
            <a:r>
              <a:rPr lang="en-US" sz="683" b="1" dirty="0">
                <a:solidFill>
                  <a:srgbClr val="4A4A4A"/>
                </a:solidFill>
              </a:rPr>
              <a:t>Market Access Infrastructure:</a:t>
            </a:r>
            <a:pPr algn="l" indent="0" marL="0">
              <a:lnSpc>
                <a:spcPts val="1100"/>
              </a:lnSpc>
              <a:buNone/>
            </a:pPr>
            <a:r>
              <a:rPr lang="en-US" sz="727" dirty="0">
                <a:solidFill>
                  <a:srgbClr val="4A4A4A"/>
                </a:solidFill>
              </a:rPr>
              <a:t> Invest in rural roads, storage facilities, and market information systems to reduce post-harvest losses</a:t>
            </a:r>
            <a:endParaRPr lang="en-US" sz="683" dirty="0"/>
          </a:p>
        </p:txBody>
      </p:sp>
      <p:sp>
        <p:nvSpPr>
          <p:cNvPr id="17" name="Shape 13"/>
          <p:cNvSpPr/>
          <p:nvPr/>
        </p:nvSpPr>
        <p:spPr>
          <a:xfrm rot="2700000">
            <a:off x="714375" y="3037098"/>
            <a:ext cx="50006" cy="50006"/>
          </a:xfrm>
          <a:prstGeom prst="rect">
            <a:avLst/>
          </a:prstGeom>
          <a:solidFill>
            <a:srgbClr val="7A9B57"/>
          </a:solidFill>
          <a:ln/>
        </p:spPr>
      </p:sp>
      <p:sp>
        <p:nvSpPr>
          <p:cNvPr id="18" name="Text 14"/>
          <p:cNvSpPr/>
          <p:nvPr/>
        </p:nvSpPr>
        <p:spPr>
          <a:xfrm>
            <a:off x="714375" y="2994236"/>
            <a:ext cx="7715250" cy="144996"/>
          </a:xfrm>
          <a:prstGeom prst="rect">
            <a:avLst/>
          </a:prstGeom>
          <a:noFill/>
          <a:ln/>
        </p:spPr>
        <p:txBody>
          <a:bodyPr wrap="none" lIns="170053" tIns="0" rIns="0" bIns="0" rtlCol="0" anchor="t">
            <a:spAutoFit/>
          </a:bodyPr>
          <a:lstStyle/>
          <a:p>
            <a:pPr algn="l" indent="0" marL="0">
              <a:lnSpc>
                <a:spcPts val="1100"/>
              </a:lnSpc>
              <a:buNone/>
            </a:pPr>
            <a:r>
              <a:rPr lang="en-US" sz="683" b="1" dirty="0">
                <a:solidFill>
                  <a:srgbClr val="4A4A4A"/>
                </a:solidFill>
              </a:rPr>
              <a:t>Agricultural Extension Services:</a:t>
            </a:r>
            <a:pPr algn="l" indent="0" marL="0">
              <a:lnSpc>
                <a:spcPts val="1100"/>
              </a:lnSpc>
              <a:buNone/>
            </a:pPr>
            <a:r>
              <a:rPr lang="en-US" sz="727" dirty="0">
                <a:solidFill>
                  <a:srgbClr val="4A4A4A"/>
                </a:solidFill>
              </a:rPr>
              <a:t> Scale up extension services focusing on productivity enhancement and climate-smart agriculture</a:t>
            </a:r>
            <a:endParaRPr lang="en-US" sz="683" dirty="0"/>
          </a:p>
        </p:txBody>
      </p:sp>
      <p:sp>
        <p:nvSpPr>
          <p:cNvPr id="19" name="Shape 15"/>
          <p:cNvSpPr/>
          <p:nvPr/>
        </p:nvSpPr>
        <p:spPr>
          <a:xfrm rot="2700000">
            <a:off x="714375" y="3224957"/>
            <a:ext cx="50006" cy="50006"/>
          </a:xfrm>
          <a:prstGeom prst="rect">
            <a:avLst/>
          </a:prstGeom>
          <a:solidFill>
            <a:srgbClr val="7A9B57"/>
          </a:solidFill>
          <a:ln/>
        </p:spPr>
      </p:sp>
      <p:sp>
        <p:nvSpPr>
          <p:cNvPr id="20" name="Text 16"/>
          <p:cNvSpPr/>
          <p:nvPr/>
        </p:nvSpPr>
        <p:spPr>
          <a:xfrm>
            <a:off x="714375" y="3182094"/>
            <a:ext cx="7715250" cy="144996"/>
          </a:xfrm>
          <a:prstGeom prst="rect">
            <a:avLst/>
          </a:prstGeom>
          <a:noFill/>
          <a:ln/>
        </p:spPr>
        <p:txBody>
          <a:bodyPr wrap="none" lIns="170053" tIns="0" rIns="0" bIns="0" rtlCol="0" anchor="t">
            <a:spAutoFit/>
          </a:bodyPr>
          <a:lstStyle/>
          <a:p>
            <a:pPr algn="l" indent="0" marL="0">
              <a:lnSpc>
                <a:spcPts val="1100"/>
              </a:lnSpc>
              <a:buNone/>
            </a:pPr>
            <a:r>
              <a:rPr lang="en-US" sz="683" b="1" dirty="0">
                <a:solidFill>
                  <a:srgbClr val="4A4A4A"/>
                </a:solidFill>
              </a:rPr>
              <a:t>Income Diversification:</a:t>
            </a:r>
            <a:pPr algn="l" indent="0" marL="0">
              <a:lnSpc>
                <a:spcPts val="1100"/>
              </a:lnSpc>
              <a:buNone/>
            </a:pPr>
            <a:r>
              <a:rPr lang="en-US" sz="727" dirty="0">
                <a:solidFill>
                  <a:srgbClr val="4A4A4A"/>
                </a:solidFill>
              </a:rPr>
              <a:t> Support on-farm and off-farm income diversification strategies to reduce household vulnerability</a:t>
            </a:r>
            <a:endParaRPr lang="en-US" sz="683" dirty="0"/>
          </a:p>
        </p:txBody>
      </p:sp>
      <p:pic>
        <p:nvPicPr>
          <p:cNvPr id="21" name="Image 2" descr="preencoded.png">    </p:cNvPr>
          <p:cNvPicPr>
            <a:picLocks noChangeAspect="1"/>
          </p:cNvPicPr>
          <p:nvPr/>
        </p:nvPicPr>
        <p:blipFill>
          <a:blip r:embed="rId3"/>
          <a:stretch>
            <a:fillRect/>
          </a:stretch>
        </p:blipFill>
        <p:spPr>
          <a:xfrm>
            <a:off x="428625" y="3680706"/>
            <a:ext cx="171450" cy="171450"/>
          </a:xfrm>
          <a:prstGeom prst="rect">
            <a:avLst/>
          </a:prstGeom>
        </p:spPr>
      </p:pic>
      <p:sp>
        <p:nvSpPr>
          <p:cNvPr id="22" name="Text 17"/>
          <p:cNvSpPr/>
          <p:nvPr/>
        </p:nvSpPr>
        <p:spPr>
          <a:xfrm>
            <a:off x="671513" y="3648559"/>
            <a:ext cx="1715142" cy="235744"/>
          </a:xfrm>
          <a:prstGeom prst="rect">
            <a:avLst/>
          </a:prstGeom>
          <a:noFill/>
          <a:ln/>
        </p:spPr>
        <p:txBody>
          <a:bodyPr wrap="none" lIns="0" tIns="0" rIns="0" bIns="0" rtlCol="0" anchor="t">
            <a:spAutoFit/>
          </a:bodyPr>
          <a:lstStyle/>
          <a:p>
            <a:pPr algn="l" indent="0" marL="0">
              <a:lnSpc>
                <a:spcPts val="1900"/>
              </a:lnSpc>
              <a:buNone/>
            </a:pPr>
            <a:r>
              <a:rPr lang="en-US" sz="1090" b="1" dirty="0">
                <a:solidFill>
                  <a:srgbClr val="C1502E"/>
                </a:solidFill>
              </a:rPr>
              <a:t>Limitations &amp; Caveats</a:t>
            </a:r>
            <a:endParaRPr lang="en-US" sz="1090" dirty="0"/>
          </a:p>
        </p:txBody>
      </p:sp>
      <p:sp>
        <p:nvSpPr>
          <p:cNvPr id="23" name="Shape 18"/>
          <p:cNvSpPr/>
          <p:nvPr/>
        </p:nvSpPr>
        <p:spPr>
          <a:xfrm>
            <a:off x="428625" y="3970027"/>
            <a:ext cx="8286750" cy="2147255"/>
          </a:xfrm>
          <a:prstGeom prst="rect">
            <a:avLst/>
          </a:prstGeom>
          <a:solidFill>
            <a:srgbClr val="C1502E">
              <a:alpha val="8000"/>
            </a:srgbClr>
          </a:solidFill>
          <a:ln/>
        </p:spPr>
      </p:sp>
      <p:sp>
        <p:nvSpPr>
          <p:cNvPr id="24" name="Shape 19"/>
          <p:cNvSpPr/>
          <p:nvPr/>
        </p:nvSpPr>
        <p:spPr>
          <a:xfrm>
            <a:off x="428625" y="3970027"/>
            <a:ext cx="42863" cy="2147255"/>
          </a:xfrm>
          <a:prstGeom prst="rect">
            <a:avLst/>
          </a:prstGeom>
          <a:solidFill>
            <a:srgbClr val="C1502E"/>
          </a:solidFill>
          <a:ln/>
        </p:spPr>
      </p:sp>
      <p:sp>
        <p:nvSpPr>
          <p:cNvPr id="25" name="Text 20"/>
          <p:cNvSpPr/>
          <p:nvPr/>
        </p:nvSpPr>
        <p:spPr>
          <a:xfrm>
            <a:off x="585788" y="4098615"/>
            <a:ext cx="7972425" cy="332184"/>
          </a:xfrm>
          <a:prstGeom prst="rect">
            <a:avLst/>
          </a:prstGeom>
          <a:noFill/>
          <a:ln/>
        </p:spPr>
        <p:txBody>
          <a:bodyPr wrap="square" lIns="0" tIns="0" rIns="0" bIns="0" rtlCol="0" anchor="t">
            <a:spAutoFit/>
          </a:bodyPr>
          <a:lstStyle/>
          <a:p>
            <a:pPr algn="l" indent="0" marL="0">
              <a:lnSpc>
                <a:spcPts val="1300"/>
              </a:lnSpc>
              <a:buNone/>
            </a:pPr>
            <a:r>
              <a:rPr lang="en-US" sz="780" dirty="0">
                <a:solidFill>
                  <a:srgbClr val="4A4A4A"/>
                </a:solidFill>
              </a:rPr>
              <a:t>This metric provides valuable insights into agricultural engagement patterns but has important limitations that must be considered when interpreting results and designing interventions.</a:t>
            </a:r>
            <a:endParaRPr lang="en-US" sz="780" dirty="0"/>
          </a:p>
        </p:txBody>
      </p:sp>
      <p:sp>
        <p:nvSpPr>
          <p:cNvPr id="26" name="Shape 21"/>
          <p:cNvSpPr/>
          <p:nvPr/>
        </p:nvSpPr>
        <p:spPr>
          <a:xfrm>
            <a:off x="585788" y="4516524"/>
            <a:ext cx="3943350" cy="765721"/>
          </a:xfrm>
          <a:prstGeom prst="rect">
            <a:avLst/>
          </a:prstGeom>
          <a:solidFill>
            <a:srgbClr val="F4F1E8">
              <a:alpha val="80000"/>
            </a:srgbClr>
          </a:solidFill>
          <a:ln/>
        </p:spPr>
      </p:sp>
      <p:sp>
        <p:nvSpPr>
          <p:cNvPr id="27" name="Shape 22"/>
          <p:cNvSpPr/>
          <p:nvPr/>
        </p:nvSpPr>
        <p:spPr>
          <a:xfrm>
            <a:off x="585788" y="4516524"/>
            <a:ext cx="3943350" cy="14288"/>
          </a:xfrm>
          <a:prstGeom prst="rect">
            <a:avLst/>
          </a:prstGeom>
          <a:solidFill>
            <a:srgbClr val="C1502E"/>
          </a:solidFill>
          <a:ln/>
        </p:spPr>
      </p:sp>
      <p:sp>
        <p:nvSpPr>
          <p:cNvPr id="28" name="Text 23"/>
          <p:cNvSpPr/>
          <p:nvPr/>
        </p:nvSpPr>
        <p:spPr>
          <a:xfrm>
            <a:off x="657225" y="4587962"/>
            <a:ext cx="3800475" cy="144996"/>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C1502E"/>
                </a:solidFill>
              </a:rPr>
              <a:t>Subsistence vs. Commercial:</a:t>
            </a:r>
            <a:endParaRPr lang="en-US" sz="683" dirty="0"/>
          </a:p>
        </p:txBody>
      </p:sp>
      <p:sp>
        <p:nvSpPr>
          <p:cNvPr id="29" name="Text 24"/>
          <p:cNvSpPr/>
          <p:nvPr/>
        </p:nvSpPr>
        <p:spPr>
          <a:xfrm>
            <a:off x="657225" y="4765104"/>
            <a:ext cx="3671162"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The metric does not distinguish between subsistence farming and commercial</a:t>
            </a:r>
            <a:endParaRPr lang="en-US" sz="727" dirty="0"/>
          </a:p>
        </p:txBody>
      </p:sp>
      <p:sp>
        <p:nvSpPr>
          <p:cNvPr id="30" name="Text 25"/>
          <p:cNvSpPr/>
          <p:nvPr/>
        </p:nvSpPr>
        <p:spPr>
          <a:xfrm>
            <a:off x="657225" y="4910100"/>
            <a:ext cx="3388426"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agriculture, limiting our understanding of economic viability and market</a:t>
            </a:r>
            <a:endParaRPr lang="en-US" sz="727" dirty="0"/>
          </a:p>
        </p:txBody>
      </p:sp>
      <p:sp>
        <p:nvSpPr>
          <p:cNvPr id="31" name="Text 26"/>
          <p:cNvSpPr/>
          <p:nvPr/>
        </p:nvSpPr>
        <p:spPr>
          <a:xfrm>
            <a:off x="657225" y="5055096"/>
            <a:ext cx="54808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integration.</a:t>
            </a:r>
            <a:endParaRPr lang="en-US" sz="727" dirty="0"/>
          </a:p>
        </p:txBody>
      </p:sp>
      <p:sp>
        <p:nvSpPr>
          <p:cNvPr id="32" name="Shape 27"/>
          <p:cNvSpPr/>
          <p:nvPr/>
        </p:nvSpPr>
        <p:spPr>
          <a:xfrm>
            <a:off x="4614863" y="4516524"/>
            <a:ext cx="3943350" cy="751433"/>
          </a:xfrm>
          <a:prstGeom prst="rect">
            <a:avLst/>
          </a:prstGeom>
          <a:solidFill>
            <a:srgbClr val="F4F1E8">
              <a:alpha val="80000"/>
            </a:srgbClr>
          </a:solidFill>
          <a:ln/>
        </p:spPr>
      </p:sp>
      <p:sp>
        <p:nvSpPr>
          <p:cNvPr id="33" name="Shape 28"/>
          <p:cNvSpPr/>
          <p:nvPr/>
        </p:nvSpPr>
        <p:spPr>
          <a:xfrm>
            <a:off x="4614863" y="4516524"/>
            <a:ext cx="3943350" cy="14288"/>
          </a:xfrm>
          <a:prstGeom prst="rect">
            <a:avLst/>
          </a:prstGeom>
          <a:solidFill>
            <a:srgbClr val="C1502E"/>
          </a:solidFill>
          <a:ln/>
        </p:spPr>
      </p:sp>
      <p:sp>
        <p:nvSpPr>
          <p:cNvPr id="34" name="Text 29"/>
          <p:cNvSpPr/>
          <p:nvPr/>
        </p:nvSpPr>
        <p:spPr>
          <a:xfrm>
            <a:off x="4686300" y="4587962"/>
            <a:ext cx="3800475" cy="144996"/>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C1502E"/>
                </a:solidFill>
              </a:rPr>
              <a:t>Farm Size &amp; Productivity:</a:t>
            </a:r>
            <a:endParaRPr lang="en-US" sz="683" dirty="0"/>
          </a:p>
        </p:txBody>
      </p:sp>
      <p:sp>
        <p:nvSpPr>
          <p:cNvPr id="35" name="Text 30"/>
          <p:cNvSpPr/>
          <p:nvPr/>
        </p:nvSpPr>
        <p:spPr>
          <a:xfrm>
            <a:off x="4686300" y="4765104"/>
            <a:ext cx="3533142"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No information on farm sizes or actual productivity levels means we cannot</a:t>
            </a:r>
            <a:endParaRPr lang="en-US" sz="727" dirty="0"/>
          </a:p>
        </p:txBody>
      </p:sp>
      <p:sp>
        <p:nvSpPr>
          <p:cNvPr id="36" name="Text 31"/>
          <p:cNvSpPr/>
          <p:nvPr/>
        </p:nvSpPr>
        <p:spPr>
          <a:xfrm>
            <a:off x="4686300" y="4910100"/>
            <a:ext cx="2710160"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assess land use efficiency or income generation potential.</a:t>
            </a:r>
            <a:endParaRPr lang="en-US" sz="727" dirty="0"/>
          </a:p>
        </p:txBody>
      </p:sp>
      <p:sp>
        <p:nvSpPr>
          <p:cNvPr id="37" name="Shape 32"/>
          <p:cNvSpPr/>
          <p:nvPr/>
        </p:nvSpPr>
        <p:spPr>
          <a:xfrm>
            <a:off x="585788" y="5353683"/>
            <a:ext cx="3943350" cy="620725"/>
          </a:xfrm>
          <a:prstGeom prst="rect">
            <a:avLst/>
          </a:prstGeom>
          <a:solidFill>
            <a:srgbClr val="F4F1E8">
              <a:alpha val="80000"/>
            </a:srgbClr>
          </a:solidFill>
          <a:ln/>
        </p:spPr>
      </p:sp>
      <p:sp>
        <p:nvSpPr>
          <p:cNvPr id="38" name="Shape 33"/>
          <p:cNvSpPr/>
          <p:nvPr/>
        </p:nvSpPr>
        <p:spPr>
          <a:xfrm>
            <a:off x="585788" y="5353683"/>
            <a:ext cx="3943350" cy="14288"/>
          </a:xfrm>
          <a:prstGeom prst="rect">
            <a:avLst/>
          </a:prstGeom>
          <a:solidFill>
            <a:srgbClr val="C1502E"/>
          </a:solidFill>
          <a:ln/>
        </p:spPr>
      </p:sp>
      <p:sp>
        <p:nvSpPr>
          <p:cNvPr id="39" name="Text 34"/>
          <p:cNvSpPr/>
          <p:nvPr/>
        </p:nvSpPr>
        <p:spPr>
          <a:xfrm>
            <a:off x="657225" y="5425120"/>
            <a:ext cx="3800475" cy="144996"/>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C1502E"/>
                </a:solidFill>
              </a:rPr>
              <a:t>Income Levels:</a:t>
            </a:r>
            <a:endParaRPr lang="en-US" sz="683" dirty="0"/>
          </a:p>
        </p:txBody>
      </p:sp>
      <p:sp>
        <p:nvSpPr>
          <p:cNvPr id="40" name="Text 35"/>
          <p:cNvSpPr/>
          <p:nvPr/>
        </p:nvSpPr>
        <p:spPr>
          <a:xfrm>
            <a:off x="657225" y="5602263"/>
            <a:ext cx="3661758"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High engagement rates may indicate either thriving agricultural economies or</a:t>
            </a:r>
            <a:endParaRPr lang="en-US" sz="727" dirty="0"/>
          </a:p>
        </p:txBody>
      </p:sp>
      <p:sp>
        <p:nvSpPr>
          <p:cNvPr id="41" name="Text 36"/>
          <p:cNvSpPr/>
          <p:nvPr/>
        </p:nvSpPr>
        <p:spPr>
          <a:xfrm>
            <a:off x="657225" y="5747258"/>
            <a:ext cx="257604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lack of economic diversification and persistent poverty.</a:t>
            </a:r>
            <a:endParaRPr lang="en-US" sz="727" dirty="0"/>
          </a:p>
        </p:txBody>
      </p:sp>
      <p:sp>
        <p:nvSpPr>
          <p:cNvPr id="42" name="Shape 37"/>
          <p:cNvSpPr/>
          <p:nvPr/>
        </p:nvSpPr>
        <p:spPr>
          <a:xfrm>
            <a:off x="4614863" y="5353683"/>
            <a:ext cx="3943350" cy="620725"/>
          </a:xfrm>
          <a:prstGeom prst="rect">
            <a:avLst/>
          </a:prstGeom>
          <a:solidFill>
            <a:srgbClr val="F4F1E8">
              <a:alpha val="80000"/>
            </a:srgbClr>
          </a:solidFill>
          <a:ln/>
        </p:spPr>
      </p:sp>
      <p:sp>
        <p:nvSpPr>
          <p:cNvPr id="43" name="Shape 38"/>
          <p:cNvSpPr/>
          <p:nvPr/>
        </p:nvSpPr>
        <p:spPr>
          <a:xfrm>
            <a:off x="4614863" y="5353683"/>
            <a:ext cx="3943350" cy="14288"/>
          </a:xfrm>
          <a:prstGeom prst="rect">
            <a:avLst/>
          </a:prstGeom>
          <a:solidFill>
            <a:srgbClr val="C1502E"/>
          </a:solidFill>
          <a:ln/>
        </p:spPr>
      </p:sp>
      <p:sp>
        <p:nvSpPr>
          <p:cNvPr id="44" name="Text 39"/>
          <p:cNvSpPr/>
          <p:nvPr/>
        </p:nvSpPr>
        <p:spPr>
          <a:xfrm>
            <a:off x="4686300" y="5425120"/>
            <a:ext cx="3800475" cy="144996"/>
          </a:xfrm>
          <a:prstGeom prst="rect">
            <a:avLst/>
          </a:prstGeom>
          <a:noFill/>
          <a:ln/>
        </p:spPr>
        <p:txBody>
          <a:bodyPr wrap="none" lIns="0" tIns="0" rIns="0" bIns="0" rtlCol="0" anchor="t">
            <a:spAutoFit/>
          </a:bodyPr>
          <a:lstStyle/>
          <a:p>
            <a:pPr algn="l" indent="0" marL="0">
              <a:lnSpc>
                <a:spcPts val="1100"/>
              </a:lnSpc>
              <a:buNone/>
            </a:pPr>
            <a:r>
              <a:rPr lang="en-US" sz="683" b="1" dirty="0">
                <a:solidFill>
                  <a:srgbClr val="C1502E"/>
                </a:solidFill>
              </a:rPr>
              <a:t>Seasonal Variation:</a:t>
            </a:r>
            <a:endParaRPr lang="en-US" sz="683" dirty="0"/>
          </a:p>
        </p:txBody>
      </p:sp>
      <p:sp>
        <p:nvSpPr>
          <p:cNvPr id="45" name="Text 40"/>
          <p:cNvSpPr/>
          <p:nvPr/>
        </p:nvSpPr>
        <p:spPr>
          <a:xfrm>
            <a:off x="4686300" y="5602263"/>
            <a:ext cx="3567047"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The data represents a snapshot and does not capture seasonal employment</a:t>
            </a:r>
            <a:endParaRPr lang="en-US" sz="727" dirty="0"/>
          </a:p>
        </p:txBody>
      </p:sp>
      <p:sp>
        <p:nvSpPr>
          <p:cNvPr id="46" name="Text 41"/>
          <p:cNvSpPr/>
          <p:nvPr/>
        </p:nvSpPr>
        <p:spPr>
          <a:xfrm>
            <a:off x="4686300" y="5747258"/>
            <a:ext cx="2547640" cy="135731"/>
          </a:xfrm>
          <a:prstGeom prst="rect">
            <a:avLst/>
          </a:prstGeom>
          <a:noFill/>
          <a:ln/>
        </p:spPr>
        <p:txBody>
          <a:bodyPr wrap="none" lIns="0" tIns="0" rIns="0" bIns="0" rtlCol="0" anchor="t">
            <a:spAutoFit/>
          </a:bodyPr>
          <a:lstStyle/>
          <a:p>
            <a:pPr algn="l" indent="0" marL="0">
              <a:lnSpc>
                <a:spcPts val="1100"/>
              </a:lnSpc>
              <a:buNone/>
            </a:pPr>
            <a:r>
              <a:rPr lang="en-US" sz="727" dirty="0">
                <a:solidFill>
                  <a:srgbClr val="4A4A4A"/>
                </a:solidFill>
              </a:rPr>
              <a:t>patterns or temporary migration for agricultural work.</a:t>
            </a:r>
            <a:endParaRPr lang="en-US" sz="72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798548"/>
          </a:xfrm>
          <a:prstGeom prst="rect">
            <a:avLst/>
          </a:prstGeom>
        </p:spPr>
      </p:pic>
      <p:sp>
        <p:nvSpPr>
          <p:cNvPr id="3" name="Text 0"/>
          <p:cNvSpPr/>
          <p:nvPr/>
        </p:nvSpPr>
        <p:spPr>
          <a:xfrm>
            <a:off x="535781" y="285750"/>
            <a:ext cx="8072438" cy="514350"/>
          </a:xfrm>
          <a:prstGeom prst="rect">
            <a:avLst/>
          </a:prstGeom>
          <a:noFill/>
          <a:ln/>
        </p:spPr>
        <p:txBody>
          <a:bodyPr wrap="none" lIns="0" tIns="0" rIns="0" bIns="0" rtlCol="0" anchor="t">
            <a:spAutoFit/>
          </a:bodyPr>
          <a:lstStyle/>
          <a:p>
            <a:pPr algn="ctr" indent="0" marL="0">
              <a:lnSpc>
                <a:spcPts val="4100"/>
              </a:lnSpc>
              <a:buNone/>
            </a:pPr>
            <a:r>
              <a:rPr lang="en-US" sz="2436" b="1" dirty="0">
                <a:solidFill>
                  <a:srgbClr val="2D5016"/>
                </a:solidFill>
              </a:rPr>
              <a:t>Conclusions &amp; Recommendations</a:t>
            </a:r>
            <a:endParaRPr lang="en-US" sz="2436" dirty="0"/>
          </a:p>
        </p:txBody>
      </p:sp>
      <p:sp>
        <p:nvSpPr>
          <p:cNvPr id="4" name="Shape 1"/>
          <p:cNvSpPr/>
          <p:nvPr/>
        </p:nvSpPr>
        <p:spPr>
          <a:xfrm>
            <a:off x="535781" y="1014413"/>
            <a:ext cx="3964781" cy="1614488"/>
          </a:xfrm>
          <a:prstGeom prst="rect">
            <a:avLst/>
          </a:prstGeom>
          <a:solidFill>
            <a:srgbClr val="2D5016">
              <a:alpha val="5000"/>
            </a:srgbClr>
          </a:solidFill>
          <a:ln/>
        </p:spPr>
      </p:sp>
      <p:sp>
        <p:nvSpPr>
          <p:cNvPr id="5" name="Shape 2"/>
          <p:cNvSpPr/>
          <p:nvPr/>
        </p:nvSpPr>
        <p:spPr>
          <a:xfrm>
            <a:off x="535781" y="1014413"/>
            <a:ext cx="3964781" cy="28575"/>
          </a:xfrm>
          <a:prstGeom prst="rect">
            <a:avLst/>
          </a:prstGeom>
          <a:solidFill>
            <a:srgbClr val="2D5016"/>
          </a:solidFill>
          <a:ln/>
        </p:spPr>
      </p:sp>
      <p:sp>
        <p:nvSpPr>
          <p:cNvPr id="6" name="Text 3"/>
          <p:cNvSpPr/>
          <p:nvPr/>
        </p:nvSpPr>
        <p:spPr>
          <a:xfrm>
            <a:off x="678656" y="1157288"/>
            <a:ext cx="357188" cy="357188"/>
          </a:xfrm>
          <a:prstGeom prst="rect">
            <a:avLst/>
          </a:prstGeom>
          <a:noFill/>
          <a:ln/>
        </p:spPr>
        <p:txBody>
          <a:bodyPr wrap="none" lIns="0" tIns="0" rIns="0" bIns="0" rtlCol="0" anchor="ctr">
            <a:spAutoFit/>
          </a:bodyPr>
          <a:lstStyle/>
          <a:p>
            <a:pPr algn="ctr" indent="0" marL="0">
              <a:lnSpc>
                <a:spcPts val="3000"/>
              </a:lnSpc>
              <a:buNone/>
            </a:pPr>
            <a:r>
              <a:rPr lang="en-US" sz="1808" b="1" dirty="0">
                <a:solidFill>
                  <a:srgbClr val="2D5016"/>
                </a:solidFill>
              </a:rPr>
              <a:t>1</a:t>
            </a:r>
            <a:endParaRPr lang="en-US" sz="1808" dirty="0"/>
          </a:p>
        </p:txBody>
      </p:sp>
      <p:sp>
        <p:nvSpPr>
          <p:cNvPr id="7" name="Text 4"/>
          <p:cNvSpPr/>
          <p:nvPr/>
        </p:nvSpPr>
        <p:spPr>
          <a:xfrm>
            <a:off x="1143000" y="1252305"/>
            <a:ext cx="3214688"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2D5016"/>
                </a:solidFill>
              </a:rPr>
              <a:t>Targeted Agricultural Support Programs</a:t>
            </a:r>
            <a:endParaRPr lang="en-US" sz="885" dirty="0"/>
          </a:p>
        </p:txBody>
      </p:sp>
      <p:sp>
        <p:nvSpPr>
          <p:cNvPr id="8" name="Text 5"/>
          <p:cNvSpPr/>
          <p:nvPr/>
        </p:nvSpPr>
        <p:spPr>
          <a:xfrm>
            <a:off x="678656" y="1600200"/>
            <a:ext cx="3679031"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Develop differentiated support programs based on the Primary Agricultural Sector classification. Counties classified as 'Crop Dominant', 'Livestock Dominant', or 'Mixed Agriculture' require distinct intervention strategies tailored to their specific agricultural profiles and resource needs.</a:t>
            </a:r>
            <a:endParaRPr lang="en-US" sz="780" dirty="0"/>
          </a:p>
        </p:txBody>
      </p:sp>
      <p:sp>
        <p:nvSpPr>
          <p:cNvPr id="9" name="Shape 6"/>
          <p:cNvSpPr/>
          <p:nvPr/>
        </p:nvSpPr>
        <p:spPr>
          <a:xfrm>
            <a:off x="4643438" y="1014413"/>
            <a:ext cx="3964781" cy="1614488"/>
          </a:xfrm>
          <a:prstGeom prst="rect">
            <a:avLst/>
          </a:prstGeom>
          <a:solidFill>
            <a:srgbClr val="2D5016">
              <a:alpha val="5000"/>
            </a:srgbClr>
          </a:solidFill>
          <a:ln/>
        </p:spPr>
      </p:sp>
      <p:sp>
        <p:nvSpPr>
          <p:cNvPr id="10" name="Shape 7"/>
          <p:cNvSpPr/>
          <p:nvPr/>
        </p:nvSpPr>
        <p:spPr>
          <a:xfrm>
            <a:off x="4643438" y="1014413"/>
            <a:ext cx="3964781" cy="28575"/>
          </a:xfrm>
          <a:prstGeom prst="rect">
            <a:avLst/>
          </a:prstGeom>
          <a:solidFill>
            <a:srgbClr val="7A9B57"/>
          </a:solidFill>
          <a:ln/>
        </p:spPr>
      </p:sp>
      <p:sp>
        <p:nvSpPr>
          <p:cNvPr id="11" name="Text 8"/>
          <p:cNvSpPr/>
          <p:nvPr/>
        </p:nvSpPr>
        <p:spPr>
          <a:xfrm>
            <a:off x="4786313" y="1157288"/>
            <a:ext cx="357188" cy="357188"/>
          </a:xfrm>
          <a:prstGeom prst="rect">
            <a:avLst/>
          </a:prstGeom>
          <a:noFill/>
          <a:ln/>
        </p:spPr>
        <p:txBody>
          <a:bodyPr wrap="none" lIns="0" tIns="0" rIns="0" bIns="0" rtlCol="0" anchor="ctr">
            <a:spAutoFit/>
          </a:bodyPr>
          <a:lstStyle/>
          <a:p>
            <a:pPr algn="ctr" indent="0" marL="0">
              <a:lnSpc>
                <a:spcPts val="3000"/>
              </a:lnSpc>
              <a:buNone/>
            </a:pPr>
            <a:r>
              <a:rPr lang="en-US" sz="1808" b="1" dirty="0">
                <a:solidFill>
                  <a:srgbClr val="7A9B57"/>
                </a:solidFill>
              </a:rPr>
              <a:t>2</a:t>
            </a:r>
            <a:endParaRPr lang="en-US" sz="1808" dirty="0"/>
          </a:p>
        </p:txBody>
      </p:sp>
      <p:sp>
        <p:nvSpPr>
          <p:cNvPr id="12" name="Text 9"/>
          <p:cNvSpPr/>
          <p:nvPr/>
        </p:nvSpPr>
        <p:spPr>
          <a:xfrm>
            <a:off x="5250656" y="1252305"/>
            <a:ext cx="3214688"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2D5016"/>
                </a:solidFill>
              </a:rPr>
              <a:t>Sustainable Farming Practices</a:t>
            </a:r>
            <a:endParaRPr lang="en-US" sz="885" dirty="0"/>
          </a:p>
        </p:txBody>
      </p:sp>
      <p:sp>
        <p:nvSpPr>
          <p:cNvPr id="13" name="Text 10"/>
          <p:cNvSpPr/>
          <p:nvPr/>
        </p:nvSpPr>
        <p:spPr>
          <a:xfrm>
            <a:off x="4786313" y="1600200"/>
            <a:ext cx="3679031"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In counties with high Crop Yield Potential Intensity (e.g., Vihiga, Kisii, Nyamira), promote sustainable intensification practices including soil health management, water conservation, and access to improved seeds and technologies to mitigate land degradation risks while maximizing productivity.</a:t>
            </a:r>
            <a:endParaRPr lang="en-US" sz="780" dirty="0"/>
          </a:p>
        </p:txBody>
      </p:sp>
      <p:sp>
        <p:nvSpPr>
          <p:cNvPr id="14" name="Shape 11"/>
          <p:cNvSpPr/>
          <p:nvPr/>
        </p:nvSpPr>
        <p:spPr>
          <a:xfrm>
            <a:off x="535781" y="2743200"/>
            <a:ext cx="3964781" cy="1614488"/>
          </a:xfrm>
          <a:prstGeom prst="rect">
            <a:avLst/>
          </a:prstGeom>
          <a:solidFill>
            <a:srgbClr val="2D5016">
              <a:alpha val="5000"/>
            </a:srgbClr>
          </a:solidFill>
          <a:ln/>
        </p:spPr>
      </p:sp>
      <p:sp>
        <p:nvSpPr>
          <p:cNvPr id="15" name="Shape 12"/>
          <p:cNvSpPr/>
          <p:nvPr/>
        </p:nvSpPr>
        <p:spPr>
          <a:xfrm>
            <a:off x="535781" y="2743200"/>
            <a:ext cx="3964781" cy="28575"/>
          </a:xfrm>
          <a:prstGeom prst="rect">
            <a:avLst/>
          </a:prstGeom>
          <a:solidFill>
            <a:srgbClr val="C1502E"/>
          </a:solidFill>
          <a:ln/>
        </p:spPr>
      </p:sp>
      <p:sp>
        <p:nvSpPr>
          <p:cNvPr id="16" name="Text 13"/>
          <p:cNvSpPr/>
          <p:nvPr/>
        </p:nvSpPr>
        <p:spPr>
          <a:xfrm>
            <a:off x="678656" y="2886075"/>
            <a:ext cx="357188" cy="357188"/>
          </a:xfrm>
          <a:prstGeom prst="rect">
            <a:avLst/>
          </a:prstGeom>
          <a:noFill/>
          <a:ln/>
        </p:spPr>
        <p:txBody>
          <a:bodyPr wrap="none" lIns="0" tIns="0" rIns="0" bIns="0" rtlCol="0" anchor="ctr">
            <a:spAutoFit/>
          </a:bodyPr>
          <a:lstStyle/>
          <a:p>
            <a:pPr algn="ctr" indent="0" marL="0">
              <a:lnSpc>
                <a:spcPts val="3000"/>
              </a:lnSpc>
              <a:buNone/>
            </a:pPr>
            <a:r>
              <a:rPr lang="en-US" sz="1808" b="1" dirty="0">
                <a:solidFill>
                  <a:srgbClr val="C1502E"/>
                </a:solidFill>
              </a:rPr>
              <a:t>3</a:t>
            </a:r>
            <a:endParaRPr lang="en-US" sz="1808" dirty="0"/>
          </a:p>
        </p:txBody>
      </p:sp>
      <p:sp>
        <p:nvSpPr>
          <p:cNvPr id="17" name="Text 14"/>
          <p:cNvSpPr/>
          <p:nvPr/>
        </p:nvSpPr>
        <p:spPr>
          <a:xfrm>
            <a:off x="1143000" y="2981092"/>
            <a:ext cx="3214688"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2D5016"/>
                </a:solidFill>
              </a:rPr>
              <a:t>Economic Diversification</a:t>
            </a:r>
            <a:endParaRPr lang="en-US" sz="885" dirty="0"/>
          </a:p>
        </p:txBody>
      </p:sp>
      <p:sp>
        <p:nvSpPr>
          <p:cNvPr id="18" name="Text 15"/>
          <p:cNvSpPr/>
          <p:nvPr/>
        </p:nvSpPr>
        <p:spPr>
          <a:xfrm>
            <a:off x="678656" y="3328988"/>
            <a:ext cx="3679031"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In counties with high Agricultural Engagement Rates but limited economic alternatives (e.g., Kitui, Bomet, Makueni), invest in value chain development, market access infrastructure, and non-farm employment opportunities to reduce livelihood vulnerability and enhance household resilience.</a:t>
            </a:r>
            <a:endParaRPr lang="en-US" sz="780" dirty="0"/>
          </a:p>
        </p:txBody>
      </p:sp>
      <p:sp>
        <p:nvSpPr>
          <p:cNvPr id="19" name="Shape 16"/>
          <p:cNvSpPr/>
          <p:nvPr/>
        </p:nvSpPr>
        <p:spPr>
          <a:xfrm>
            <a:off x="4643438" y="2743200"/>
            <a:ext cx="3964781" cy="1614488"/>
          </a:xfrm>
          <a:prstGeom prst="rect">
            <a:avLst/>
          </a:prstGeom>
          <a:solidFill>
            <a:srgbClr val="2D5016">
              <a:alpha val="5000"/>
            </a:srgbClr>
          </a:solidFill>
          <a:ln/>
        </p:spPr>
      </p:sp>
      <p:sp>
        <p:nvSpPr>
          <p:cNvPr id="20" name="Shape 17"/>
          <p:cNvSpPr/>
          <p:nvPr/>
        </p:nvSpPr>
        <p:spPr>
          <a:xfrm>
            <a:off x="4643438" y="2743200"/>
            <a:ext cx="3964781" cy="28575"/>
          </a:xfrm>
          <a:prstGeom prst="rect">
            <a:avLst/>
          </a:prstGeom>
          <a:solidFill>
            <a:srgbClr val="4A4A4A"/>
          </a:solidFill>
          <a:ln/>
        </p:spPr>
      </p:sp>
      <p:sp>
        <p:nvSpPr>
          <p:cNvPr id="21" name="Text 18"/>
          <p:cNvSpPr/>
          <p:nvPr/>
        </p:nvSpPr>
        <p:spPr>
          <a:xfrm>
            <a:off x="4786313" y="2886075"/>
            <a:ext cx="357188" cy="357188"/>
          </a:xfrm>
          <a:prstGeom prst="rect">
            <a:avLst/>
          </a:prstGeom>
          <a:noFill/>
          <a:ln/>
        </p:spPr>
        <p:txBody>
          <a:bodyPr wrap="none" lIns="0" tIns="0" rIns="0" bIns="0" rtlCol="0" anchor="ctr">
            <a:spAutoFit/>
          </a:bodyPr>
          <a:lstStyle/>
          <a:p>
            <a:pPr algn="ctr" indent="0" marL="0">
              <a:lnSpc>
                <a:spcPts val="3000"/>
              </a:lnSpc>
              <a:buNone/>
            </a:pPr>
            <a:r>
              <a:rPr lang="en-US" sz="1808" b="1" dirty="0">
                <a:solidFill>
                  <a:srgbClr val="4A4A4A"/>
                </a:solidFill>
              </a:rPr>
              <a:t>4</a:t>
            </a:r>
            <a:endParaRPr lang="en-US" sz="1808" dirty="0"/>
          </a:p>
        </p:txBody>
      </p:sp>
      <p:sp>
        <p:nvSpPr>
          <p:cNvPr id="22" name="Text 19"/>
          <p:cNvSpPr/>
          <p:nvPr/>
        </p:nvSpPr>
        <p:spPr>
          <a:xfrm>
            <a:off x="5250656" y="2981092"/>
            <a:ext cx="3214688" cy="167153"/>
          </a:xfrm>
          <a:prstGeom prst="rect">
            <a:avLst/>
          </a:prstGeom>
          <a:noFill/>
          <a:ln/>
        </p:spPr>
        <p:txBody>
          <a:bodyPr wrap="none" lIns="0" tIns="0" rIns="0" bIns="0" rtlCol="0" anchor="t">
            <a:spAutoFit/>
          </a:bodyPr>
          <a:lstStyle/>
          <a:p>
            <a:pPr algn="l" indent="0" marL="0">
              <a:lnSpc>
                <a:spcPts val="1300"/>
              </a:lnSpc>
              <a:buNone/>
            </a:pPr>
            <a:r>
              <a:rPr lang="en-US" sz="885" b="1" dirty="0">
                <a:solidFill>
                  <a:srgbClr val="2D5016"/>
                </a:solidFill>
              </a:rPr>
              <a:t>Further Research Needs</a:t>
            </a:r>
            <a:endParaRPr lang="en-US" sz="885" dirty="0"/>
          </a:p>
        </p:txBody>
      </p:sp>
      <p:sp>
        <p:nvSpPr>
          <p:cNvPr id="23" name="Text 20"/>
          <p:cNvSpPr/>
          <p:nvPr/>
        </p:nvSpPr>
        <p:spPr>
          <a:xfrm>
            <a:off x="4786313" y="3328988"/>
            <a:ext cx="3679031" cy="857250"/>
          </a:xfrm>
          <a:prstGeom prst="rect">
            <a:avLst/>
          </a:prstGeom>
          <a:noFill/>
          <a:ln/>
        </p:spPr>
        <p:txBody>
          <a:bodyPr wrap="square" lIns="0" tIns="0" rIns="0" bIns="0" rtlCol="0" anchor="t">
            <a:spAutoFit/>
          </a:bodyPr>
          <a:lstStyle/>
          <a:p>
            <a:pPr algn="l" indent="0" marL="0">
              <a:lnSpc>
                <a:spcPts val="1400"/>
              </a:lnSpc>
              <a:buNone/>
            </a:pPr>
            <a:r>
              <a:rPr lang="en-US" sz="780" dirty="0">
                <a:solidFill>
                  <a:srgbClr val="4A4A4A"/>
                </a:solidFill>
              </a:rPr>
              <a:t>Conduct deeper analysis incorporating data on farm sizes, income levels, actual crop yields, and climate suitability. Distinguish between subsistence and commercial farming to enable more precise targeting of interventions and better assessment of agricultural productivity and food security outcomes.</a:t>
            </a:r>
            <a:endParaRPr lang="en-US" sz="780" dirty="0"/>
          </a:p>
        </p:txBody>
      </p:sp>
      <p:sp>
        <p:nvSpPr>
          <p:cNvPr id="24" name="Shape 21"/>
          <p:cNvSpPr/>
          <p:nvPr/>
        </p:nvSpPr>
        <p:spPr>
          <a:xfrm>
            <a:off x="535781" y="4507706"/>
            <a:ext cx="8072438" cy="947942"/>
          </a:xfrm>
          <a:prstGeom prst="rect">
            <a:avLst/>
          </a:prstGeom>
          <a:solidFill>
            <a:srgbClr val="7A9B57">
              <a:alpha val="12000"/>
            </a:srgbClr>
          </a:solidFill>
          <a:ln/>
        </p:spPr>
      </p:sp>
      <p:sp>
        <p:nvSpPr>
          <p:cNvPr id="25" name="Shape 22"/>
          <p:cNvSpPr/>
          <p:nvPr/>
        </p:nvSpPr>
        <p:spPr>
          <a:xfrm>
            <a:off x="535781" y="4507706"/>
            <a:ext cx="8072438" cy="21431"/>
          </a:xfrm>
          <a:prstGeom prst="rect">
            <a:avLst/>
          </a:prstGeom>
          <a:solidFill>
            <a:srgbClr val="2D5016"/>
          </a:solidFill>
          <a:ln/>
        </p:spPr>
      </p:sp>
      <p:sp>
        <p:nvSpPr>
          <p:cNvPr id="26" name="Shape 23"/>
          <p:cNvSpPr/>
          <p:nvPr/>
        </p:nvSpPr>
        <p:spPr>
          <a:xfrm>
            <a:off x="535781" y="5434217"/>
            <a:ext cx="8072438" cy="21431"/>
          </a:xfrm>
          <a:prstGeom prst="rect">
            <a:avLst/>
          </a:prstGeom>
          <a:solidFill>
            <a:srgbClr val="2D5016"/>
          </a:solidFill>
          <a:ln/>
        </p:spPr>
      </p:sp>
      <p:sp>
        <p:nvSpPr>
          <p:cNvPr id="27" name="Text 24"/>
          <p:cNvSpPr/>
          <p:nvPr/>
        </p:nvSpPr>
        <p:spPr>
          <a:xfrm>
            <a:off x="535781" y="4507706"/>
            <a:ext cx="8072438" cy="947942"/>
          </a:xfrm>
          <a:prstGeom prst="rect">
            <a:avLst/>
          </a:prstGeom>
          <a:noFill/>
          <a:ln/>
        </p:spPr>
        <p:txBody>
          <a:bodyPr wrap="square" lIns="340233" tIns="170053" rIns="340233" bIns="170053" rtlCol="0" anchor="t">
            <a:spAutoFit/>
          </a:bodyPr>
          <a:lstStyle/>
          <a:p>
            <a:pPr algn="ctr" indent="0" marL="0">
              <a:lnSpc>
                <a:spcPts val="1600"/>
              </a:lnSpc>
              <a:buNone/>
            </a:pPr>
            <a:r>
              <a:rPr lang="en-US" sz="834" b="1" dirty="0">
                <a:solidFill>
                  <a:srgbClr val="2D5016"/>
                </a:solidFill>
              </a:rPr>
              <a:t>This analysis demonstrates the power of data-driven MEL approaches</a:t>
            </a:r>
            <a:pPr algn="ctr" indent="0" marL="0">
              <a:lnSpc>
                <a:spcPts val="1600"/>
              </a:lnSpc>
              <a:buNone/>
            </a:pPr>
            <a:r>
              <a:rPr lang="en-US" sz="888" dirty="0">
                <a:solidFill>
                  <a:srgbClr val="4A4A4A"/>
                </a:solidFill>
              </a:rPr>
              <a:t> in transforming raw agricultural data into actionable </a:t>
            </a:r>
            <a:pPr algn="ctr" indent="0" marL="0">
              <a:lnSpc>
                <a:spcPts val="1600"/>
              </a:lnSpc>
              <a:buNone/>
            </a:pPr>
            <a:r>
              <a:rPr lang="en-US" sz="888" dirty="0">
                <a:solidFill>
                  <a:srgbClr val="4A4A4A"/>
                </a:solidFill>
              </a:rPr>
              <a:t>strategic insights. By combining rigorous data cleaning, descriptive analysis, and policy-relevant metrics, we can support evidence-</a:t>
            </a:r>
            <a:pPr algn="ctr" indent="0" marL="0">
              <a:lnSpc>
                <a:spcPts val="1600"/>
              </a:lnSpc>
              <a:buNone/>
            </a:pPr>
            <a:r>
              <a:rPr lang="en-US" sz="888" dirty="0">
                <a:solidFill>
                  <a:srgbClr val="4A4A4A"/>
                </a:solidFill>
              </a:rPr>
              <a:t>based decision-making for improved agricultural sustainability and food security at the county level.</a:t>
            </a:r>
            <a:endParaRPr lang="en-US" sz="83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2025-11-06T09:12:01Z</dcterms:created>
  <dcterms:modified xsi:type="dcterms:W3CDTF">2025-11-06T09:12:01Z</dcterms:modified>
</cp:coreProperties>
</file>